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1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70" r:id="rId14"/>
    <p:sldId id="265" r:id="rId15"/>
    <p:sldId id="266" r:id="rId16"/>
    <p:sldId id="267" r:id="rId17"/>
    <p:sldId id="268" r:id="rId18"/>
    <p:sldId id="269" r:id="rId19"/>
    <p:sldId id="271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6F2AB11-73B1-F35A-CF57-F66082E3D75F}" v="36" dt="2026-04-14T20:25:11.201"/>
    <p1510:client id="{8733F0CC-A91F-D208-7CB7-76FB147F1E4C}" v="395" dt="2026-04-13T05:25:58.873"/>
    <p1510:client id="{9047264D-34D4-6388-2C72-5160445BCD36}" v="1" dt="2026-04-14T19:59:27.619"/>
    <p1510:client id="{984EA820-5267-1F37-70B2-B164AE3BD0B2}" v="1" dt="2026-04-14T20:26:52.661"/>
    <p1510:client id="{C5010DC6-87E4-7362-4B69-5807FC0A9A0A}" v="37" dt="2026-04-14T20:38:20.632"/>
    <p1510:client id="{C7329D04-D637-B681-39A5-AA6D8207CC8D}" v="70" dt="2026-04-14T05:01:36.692"/>
    <p1510:client id="{E11D4F00-2090-44D6-ED51-C4EE969691D8}" v="22" dt="2026-04-13T21:20:34.96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ouleymane Diawara" userId="S::54295391@nebraska.edu::45d7bee0-ad90-4f69-99e6-16787382909d" providerId="AD" clId="Web-{C5010DC6-87E4-7362-4B69-5807FC0A9A0A}"/>
    <pc:docChg chg="modSld">
      <pc:chgData name="Souleymane Diawara" userId="S::54295391@nebraska.edu::45d7bee0-ad90-4f69-99e6-16787382909d" providerId="AD" clId="Web-{C5010DC6-87E4-7362-4B69-5807FC0A9A0A}" dt="2026-04-14T21:15:08.776" v="217"/>
      <pc:docMkLst>
        <pc:docMk/>
      </pc:docMkLst>
      <pc:sldChg chg="modNotes">
        <pc:chgData name="Souleymane Diawara" userId="S::54295391@nebraska.edu::45d7bee0-ad90-4f69-99e6-16787382909d" providerId="AD" clId="Web-{C5010DC6-87E4-7362-4B69-5807FC0A9A0A}" dt="2026-04-14T20:28:35.692" v="10"/>
        <pc:sldMkLst>
          <pc:docMk/>
          <pc:sldMk cId="0" sldId="256"/>
        </pc:sldMkLst>
      </pc:sldChg>
      <pc:sldChg chg="modNotes">
        <pc:chgData name="Souleymane Diawara" userId="S::54295391@nebraska.edu::45d7bee0-ad90-4f69-99e6-16787382909d" providerId="AD" clId="Web-{C5010DC6-87E4-7362-4B69-5807FC0A9A0A}" dt="2026-04-14T20:29:07.569" v="18"/>
        <pc:sldMkLst>
          <pc:docMk/>
          <pc:sldMk cId="0" sldId="257"/>
        </pc:sldMkLst>
      </pc:sldChg>
      <pc:sldChg chg="modNotes">
        <pc:chgData name="Souleymane Diawara" userId="S::54295391@nebraska.edu::45d7bee0-ad90-4f69-99e6-16787382909d" providerId="AD" clId="Web-{C5010DC6-87E4-7362-4B69-5807FC0A9A0A}" dt="2026-04-14T20:31:13.372" v="25"/>
        <pc:sldMkLst>
          <pc:docMk/>
          <pc:sldMk cId="0" sldId="260"/>
        </pc:sldMkLst>
      </pc:sldChg>
      <pc:sldChg chg="modNotes">
        <pc:chgData name="Souleymane Diawara" userId="S::54295391@nebraska.edu::45d7bee0-ad90-4f69-99e6-16787382909d" providerId="AD" clId="Web-{C5010DC6-87E4-7362-4B69-5807FC0A9A0A}" dt="2026-04-14T20:32:28.562" v="34"/>
        <pc:sldMkLst>
          <pc:docMk/>
          <pc:sldMk cId="0" sldId="261"/>
        </pc:sldMkLst>
      </pc:sldChg>
      <pc:sldChg chg="modSp modNotes">
        <pc:chgData name="Souleymane Diawara" userId="S::54295391@nebraska.edu::45d7bee0-ad90-4f69-99e6-16787382909d" providerId="AD" clId="Web-{C5010DC6-87E4-7362-4B69-5807FC0A9A0A}" dt="2026-04-14T20:34:50.394" v="47"/>
        <pc:sldMkLst>
          <pc:docMk/>
          <pc:sldMk cId="0" sldId="262"/>
        </pc:sldMkLst>
        <pc:spChg chg="mod">
          <ac:chgData name="Souleymane Diawara" userId="S::54295391@nebraska.edu::45d7bee0-ad90-4f69-99e6-16787382909d" providerId="AD" clId="Web-{C5010DC6-87E4-7362-4B69-5807FC0A9A0A}" dt="2026-04-14T20:34:46.769" v="45"/>
          <ac:spMkLst>
            <pc:docMk/>
            <pc:sldMk cId="0" sldId="262"/>
            <ac:spMk id="34" creationId="{00000000-0000-0000-0000-000000000000}"/>
          </ac:spMkLst>
        </pc:spChg>
        <pc:spChg chg="mod">
          <ac:chgData name="Souleymane Diawara" userId="S::54295391@nebraska.edu::45d7bee0-ad90-4f69-99e6-16787382909d" providerId="AD" clId="Web-{C5010DC6-87E4-7362-4B69-5807FC0A9A0A}" dt="2026-04-14T20:34:50.394" v="47"/>
          <ac:spMkLst>
            <pc:docMk/>
            <pc:sldMk cId="0" sldId="262"/>
            <ac:spMk id="35" creationId="{00000000-0000-0000-0000-000000000000}"/>
          </ac:spMkLst>
        </pc:spChg>
      </pc:sldChg>
      <pc:sldChg chg="addSp modSp modNotes">
        <pc:chgData name="Souleymane Diawara" userId="S::54295391@nebraska.edu::45d7bee0-ad90-4f69-99e6-16787382909d" providerId="AD" clId="Web-{C5010DC6-87E4-7362-4B69-5807FC0A9A0A}" dt="2026-04-14T20:38:17.085" v="91" actId="20577"/>
        <pc:sldMkLst>
          <pc:docMk/>
          <pc:sldMk cId="0" sldId="263"/>
        </pc:sldMkLst>
        <pc:spChg chg="add mod">
          <ac:chgData name="Souleymane Diawara" userId="S::54295391@nebraska.edu::45d7bee0-ad90-4f69-99e6-16787382909d" providerId="AD" clId="Web-{C5010DC6-87E4-7362-4B69-5807FC0A9A0A}" dt="2026-04-14T20:38:17.085" v="91" actId="20577"/>
          <ac:spMkLst>
            <pc:docMk/>
            <pc:sldMk cId="0" sldId="263"/>
            <ac:spMk id="17" creationId="{7D4CD60D-7EF2-F916-C28D-6EE812B743F9}"/>
          </ac:spMkLst>
        </pc:spChg>
        <pc:spChg chg="add mod">
          <ac:chgData name="Souleymane Diawara" userId="S::54295391@nebraska.edu::45d7bee0-ad90-4f69-99e6-16787382909d" providerId="AD" clId="Web-{C5010DC6-87E4-7362-4B69-5807FC0A9A0A}" dt="2026-04-14T20:38:08.507" v="88"/>
          <ac:spMkLst>
            <pc:docMk/>
            <pc:sldMk cId="0" sldId="263"/>
            <ac:spMk id="87" creationId="{9EB370DB-356C-4B1D-A010-40A83A3CC599}"/>
          </ac:spMkLst>
        </pc:spChg>
      </pc:sldChg>
      <pc:sldChg chg="modNotes">
        <pc:chgData name="Souleymane Diawara" userId="S::54295391@nebraska.edu::45d7bee0-ad90-4f69-99e6-16787382909d" providerId="AD" clId="Web-{C5010DC6-87E4-7362-4B69-5807FC0A9A0A}" dt="2026-04-14T20:39:21.007" v="99"/>
        <pc:sldMkLst>
          <pc:docMk/>
          <pc:sldMk cId="0" sldId="268"/>
        </pc:sldMkLst>
      </pc:sldChg>
      <pc:sldChg chg="modNotes">
        <pc:chgData name="Souleymane Diawara" userId="S::54295391@nebraska.edu::45d7bee0-ad90-4f69-99e6-16787382909d" providerId="AD" clId="Web-{C5010DC6-87E4-7362-4B69-5807FC0A9A0A}" dt="2026-04-14T21:15:08.776" v="217"/>
        <pc:sldMkLst>
          <pc:docMk/>
          <pc:sldMk cId="0" sldId="269"/>
        </pc:sldMkLst>
      </pc:sldChg>
    </pc:docChg>
  </pc:docChgLst>
  <pc:docChgLst>
    <pc:chgData name="Baba Sirima" userId="S::78137370@nebraska.edu::da451bdb-6090-4472-95f9-593c9cc49ac5" providerId="AD" clId="Web-{984EA820-5267-1F37-70B2-B164AE3BD0B2}"/>
    <pc:docChg chg="modSld">
      <pc:chgData name="Baba Sirima" userId="S::78137370@nebraska.edu::da451bdb-6090-4472-95f9-593c9cc49ac5" providerId="AD" clId="Web-{984EA820-5267-1F37-70B2-B164AE3BD0B2}" dt="2026-04-14T20:39:43.566" v="233"/>
      <pc:docMkLst>
        <pc:docMk/>
      </pc:docMkLst>
      <pc:sldChg chg="modNotes">
        <pc:chgData name="Baba Sirima" userId="S::78137370@nebraska.edu::da451bdb-6090-4472-95f9-593c9cc49ac5" providerId="AD" clId="Web-{984EA820-5267-1F37-70B2-B164AE3BD0B2}" dt="2026-04-14T20:14:25.767" v="26"/>
        <pc:sldMkLst>
          <pc:docMk/>
          <pc:sldMk cId="0" sldId="258"/>
        </pc:sldMkLst>
      </pc:sldChg>
      <pc:sldChg chg="modNotes">
        <pc:chgData name="Baba Sirima" userId="S::78137370@nebraska.edu::da451bdb-6090-4472-95f9-593c9cc49ac5" providerId="AD" clId="Web-{984EA820-5267-1F37-70B2-B164AE3BD0B2}" dt="2026-04-14T20:13:33.141" v="12"/>
        <pc:sldMkLst>
          <pc:docMk/>
          <pc:sldMk cId="0" sldId="259"/>
        </pc:sldMkLst>
      </pc:sldChg>
      <pc:sldChg chg="modNotes">
        <pc:chgData name="Baba Sirima" userId="S::78137370@nebraska.edu::da451bdb-6090-4472-95f9-593c9cc49ac5" providerId="AD" clId="Web-{984EA820-5267-1F37-70B2-B164AE3BD0B2}" dt="2026-04-14T20:18:03.396" v="45"/>
        <pc:sldMkLst>
          <pc:docMk/>
          <pc:sldMk cId="0" sldId="264"/>
        </pc:sldMkLst>
      </pc:sldChg>
      <pc:sldChg chg="modNotes">
        <pc:chgData name="Baba Sirima" userId="S::78137370@nebraska.edu::da451bdb-6090-4472-95f9-593c9cc49ac5" providerId="AD" clId="Web-{984EA820-5267-1F37-70B2-B164AE3BD0B2}" dt="2026-04-14T20:30:35.559" v="120"/>
        <pc:sldMkLst>
          <pc:docMk/>
          <pc:sldMk cId="0" sldId="265"/>
        </pc:sldMkLst>
      </pc:sldChg>
      <pc:sldChg chg="modNotes">
        <pc:chgData name="Baba Sirima" userId="S::78137370@nebraska.edu::da451bdb-6090-4472-95f9-593c9cc49ac5" providerId="AD" clId="Web-{984EA820-5267-1F37-70B2-B164AE3BD0B2}" dt="2026-04-14T20:26:34.801" v="82"/>
        <pc:sldMkLst>
          <pc:docMk/>
          <pc:sldMk cId="0" sldId="266"/>
        </pc:sldMkLst>
      </pc:sldChg>
      <pc:sldChg chg="modNotes">
        <pc:chgData name="Baba Sirima" userId="S::78137370@nebraska.edu::da451bdb-6090-4472-95f9-593c9cc49ac5" providerId="AD" clId="Web-{984EA820-5267-1F37-70B2-B164AE3BD0B2}" dt="2026-04-14T20:39:43.566" v="233"/>
        <pc:sldMkLst>
          <pc:docMk/>
          <pc:sldMk cId="0" sldId="267"/>
        </pc:sldMkLst>
      </pc:sldChg>
      <pc:sldChg chg="modNotes">
        <pc:chgData name="Baba Sirima" userId="S::78137370@nebraska.edu::da451bdb-6090-4472-95f9-593c9cc49ac5" providerId="AD" clId="Web-{984EA820-5267-1F37-70B2-B164AE3BD0B2}" dt="2026-04-14T20:37:12.955" v="190"/>
        <pc:sldMkLst>
          <pc:docMk/>
          <pc:sldMk cId="1942392717" sldId="270"/>
        </pc:sldMkLst>
      </pc:sldChg>
    </pc:docChg>
  </pc:docChgLst>
  <pc:docChgLst>
    <pc:chgData name="Baba Sirima" userId="S::78137370@nebraska.edu::da451bdb-6090-4472-95f9-593c9cc49ac5" providerId="AD" clId="Web-{9047264D-34D4-6388-2C72-5160445BCD36}"/>
    <pc:docChg chg="modSld">
      <pc:chgData name="Baba Sirima" userId="S::78137370@nebraska.edu::da451bdb-6090-4472-95f9-593c9cc49ac5" providerId="AD" clId="Web-{9047264D-34D4-6388-2C72-5160445BCD36}" dt="2026-04-14T19:59:22.635" v="3"/>
      <pc:docMkLst>
        <pc:docMk/>
      </pc:docMkLst>
      <pc:sldChg chg="modNotes">
        <pc:chgData name="Baba Sirima" userId="S::78137370@nebraska.edu::da451bdb-6090-4472-95f9-593c9cc49ac5" providerId="AD" clId="Web-{9047264D-34D4-6388-2C72-5160445BCD36}" dt="2026-04-14T19:59:22.635" v="3"/>
        <pc:sldMkLst>
          <pc:docMk/>
          <pc:sldMk cId="0" sldId="256"/>
        </pc:sldMkLst>
      </pc:sldChg>
    </pc:docChg>
  </pc:docChgLst>
  <pc:docChgLst>
    <pc:chgData name="Souleymane Diawara" userId="S::54295391@nebraska.edu::45d7bee0-ad90-4f69-99e6-16787382909d" providerId="AD" clId="Web-{26F2AB11-73B1-F35A-CF57-F66082E3D75F}"/>
    <pc:docChg chg="modSld">
      <pc:chgData name="Souleymane Diawara" userId="S::54295391@nebraska.edu::45d7bee0-ad90-4f69-99e6-16787382909d" providerId="AD" clId="Web-{26F2AB11-73B1-F35A-CF57-F66082E3D75F}" dt="2026-04-14T20:25:11.201" v="73" actId="1076"/>
      <pc:docMkLst>
        <pc:docMk/>
      </pc:docMkLst>
      <pc:sldChg chg="addSp delSp modSp modNotes">
        <pc:chgData name="Souleymane Diawara" userId="S::54295391@nebraska.edu::45d7bee0-ad90-4f69-99e6-16787382909d" providerId="AD" clId="Web-{26F2AB11-73B1-F35A-CF57-F66082E3D75F}" dt="2026-04-14T20:25:11.201" v="73" actId="1076"/>
        <pc:sldMkLst>
          <pc:docMk/>
          <pc:sldMk cId="0" sldId="256"/>
        </pc:sldMkLst>
        <pc:spChg chg="mod">
          <ac:chgData name="Souleymane Diawara" userId="S::54295391@nebraska.edu::45d7bee0-ad90-4f69-99e6-16787382909d" providerId="AD" clId="Web-{26F2AB11-73B1-F35A-CF57-F66082E3D75F}" dt="2026-04-14T20:24:42.670" v="57" actId="1076"/>
          <ac:spMkLst>
            <pc:docMk/>
            <pc:sldMk cId="0" sldId="256"/>
            <ac:spMk id="4" creationId="{00000000-0000-0000-0000-000000000000}"/>
          </ac:spMkLst>
        </pc:spChg>
        <pc:spChg chg="add del">
          <ac:chgData name="Souleymane Diawara" userId="S::54295391@nebraska.edu::45d7bee0-ad90-4f69-99e6-16787382909d" providerId="AD" clId="Web-{26F2AB11-73B1-F35A-CF57-F66082E3D75F}" dt="2026-04-14T20:24:49.076" v="59"/>
          <ac:spMkLst>
            <pc:docMk/>
            <pc:sldMk cId="0" sldId="256"/>
            <ac:spMk id="20" creationId="{8A65453F-446F-66D2-6A43-F8FF0DAD6E31}"/>
          </ac:spMkLst>
        </pc:spChg>
        <pc:spChg chg="add mod">
          <ac:chgData name="Souleymane Diawara" userId="S::54295391@nebraska.edu::45d7bee0-ad90-4f69-99e6-16787382909d" providerId="AD" clId="Web-{26F2AB11-73B1-F35A-CF57-F66082E3D75F}" dt="2026-04-14T20:25:11.201" v="73" actId="1076"/>
          <ac:spMkLst>
            <pc:docMk/>
            <pc:sldMk cId="0" sldId="256"/>
            <ac:spMk id="21" creationId="{0EE65D12-DD24-3E32-C824-763B57C1C251}"/>
          </ac:spMkLst>
        </pc:spChg>
      </pc:sldChg>
      <pc:sldChg chg="modNotes">
        <pc:chgData name="Souleymane Diawara" userId="S::54295391@nebraska.edu::45d7bee0-ad90-4f69-99e6-16787382909d" providerId="AD" clId="Web-{26F2AB11-73B1-F35A-CF57-F66082E3D75F}" dt="2026-04-14T20:00:09.959" v="5"/>
        <pc:sldMkLst>
          <pc:docMk/>
          <pc:sldMk cId="0" sldId="257"/>
        </pc:sldMkLst>
      </pc:sldChg>
      <pc:sldChg chg="modNotes">
        <pc:chgData name="Souleymane Diawara" userId="S::54295391@nebraska.edu::45d7bee0-ad90-4f69-99e6-16787382909d" providerId="AD" clId="Web-{26F2AB11-73B1-F35A-CF57-F66082E3D75F}" dt="2026-04-14T20:01:16.928" v="10"/>
        <pc:sldMkLst>
          <pc:docMk/>
          <pc:sldMk cId="0" sldId="260"/>
        </pc:sldMkLst>
      </pc:sldChg>
      <pc:sldChg chg="modNotes">
        <pc:chgData name="Souleymane Diawara" userId="S::54295391@nebraska.edu::45d7bee0-ad90-4f69-99e6-16787382909d" providerId="AD" clId="Web-{26F2AB11-73B1-F35A-CF57-F66082E3D75F}" dt="2026-04-14T20:01:21.850" v="12"/>
        <pc:sldMkLst>
          <pc:docMk/>
          <pc:sldMk cId="0" sldId="261"/>
        </pc:sldMkLst>
      </pc:sldChg>
      <pc:sldChg chg="modNotes">
        <pc:chgData name="Souleymane Diawara" userId="S::54295391@nebraska.edu::45d7bee0-ad90-4f69-99e6-16787382909d" providerId="AD" clId="Web-{26F2AB11-73B1-F35A-CF57-F66082E3D75F}" dt="2026-04-14T20:02:10.366" v="14"/>
        <pc:sldMkLst>
          <pc:docMk/>
          <pc:sldMk cId="0" sldId="262"/>
        </pc:sldMkLst>
      </pc:sldChg>
      <pc:sldChg chg="modNotes">
        <pc:chgData name="Souleymane Diawara" userId="S::54295391@nebraska.edu::45d7bee0-ad90-4f69-99e6-16787382909d" providerId="AD" clId="Web-{26F2AB11-73B1-F35A-CF57-F66082E3D75F}" dt="2026-04-14T20:15:08.199" v="36"/>
        <pc:sldMkLst>
          <pc:docMk/>
          <pc:sldMk cId="0" sldId="263"/>
        </pc:sldMkLst>
      </pc:sldChg>
      <pc:sldChg chg="modSp">
        <pc:chgData name="Souleymane Diawara" userId="S::54295391@nebraska.edu::45d7bee0-ad90-4f69-99e6-16787382909d" providerId="AD" clId="Web-{26F2AB11-73B1-F35A-CF57-F66082E3D75F}" dt="2026-04-14T20:15:38.121" v="38" actId="14100"/>
        <pc:sldMkLst>
          <pc:docMk/>
          <pc:sldMk cId="0" sldId="265"/>
        </pc:sldMkLst>
        <pc:spChg chg="mod">
          <ac:chgData name="Souleymane Diawara" userId="S::54295391@nebraska.edu::45d7bee0-ad90-4f69-99e6-16787382909d" providerId="AD" clId="Web-{26F2AB11-73B1-F35A-CF57-F66082E3D75F}" dt="2026-04-14T20:15:38.121" v="38" actId="14100"/>
          <ac:spMkLst>
            <pc:docMk/>
            <pc:sldMk cId="0" sldId="265"/>
            <ac:spMk id="75" creationId="{448D87F9-3B93-73D8-43AA-ABF3169F9D10}"/>
          </ac:spMkLst>
        </pc:spChg>
      </pc:sldChg>
      <pc:sldChg chg="modNotes">
        <pc:chgData name="Souleymane Diawara" userId="S::54295391@nebraska.edu::45d7bee0-ad90-4f69-99e6-16787382909d" providerId="AD" clId="Web-{26F2AB11-73B1-F35A-CF57-F66082E3D75F}" dt="2026-04-14T20:12:10.838" v="32"/>
        <pc:sldMkLst>
          <pc:docMk/>
          <pc:sldMk cId="0" sldId="268"/>
        </pc:sldMkLst>
      </pc:sldChg>
      <pc:sldChg chg="modSp">
        <pc:chgData name="Souleymane Diawara" userId="S::54295391@nebraska.edu::45d7bee0-ad90-4f69-99e6-16787382909d" providerId="AD" clId="Web-{26F2AB11-73B1-F35A-CF57-F66082E3D75F}" dt="2026-04-14T20:16:53.809" v="53"/>
        <pc:sldMkLst>
          <pc:docMk/>
          <pc:sldMk cId="0" sldId="269"/>
        </pc:sldMkLst>
        <pc:spChg chg="mod">
          <ac:chgData name="Souleymane Diawara" userId="S::54295391@nebraska.edu::45d7bee0-ad90-4f69-99e6-16787382909d" providerId="AD" clId="Web-{26F2AB11-73B1-F35A-CF57-F66082E3D75F}" dt="2026-04-14T20:16:44.747" v="51" actId="14100"/>
          <ac:spMkLst>
            <pc:docMk/>
            <pc:sldMk cId="0" sldId="269"/>
            <ac:spMk id="24" creationId="{00000000-0000-0000-0000-000000000000}"/>
          </ac:spMkLst>
        </pc:spChg>
        <pc:spChg chg="mod">
          <ac:chgData name="Souleymane Diawara" userId="S::54295391@nebraska.edu::45d7bee0-ad90-4f69-99e6-16787382909d" providerId="AD" clId="Web-{26F2AB11-73B1-F35A-CF57-F66082E3D75F}" dt="2026-04-14T20:16:53.809" v="53"/>
          <ac:spMkLst>
            <pc:docMk/>
            <pc:sldMk cId="0" sldId="269"/>
            <ac:spMk id="25" creationId="{00000000-0000-0000-0000-000000000000}"/>
          </ac:spMkLst>
        </pc:spChg>
      </pc:sldChg>
    </pc:docChg>
  </pc:docChgLst>
  <pc:docChgLst>
    <pc:chgData clId="Web-{C5010DC6-87E4-7362-4B69-5807FC0A9A0A}"/>
    <pc:docChg chg="modSld">
      <pc:chgData name="" userId="" providerId="" clId="Web-{C5010DC6-87E4-7362-4B69-5807FC0A9A0A}" dt="2026-04-14T20:25:53.176" v="1" actId="1076"/>
      <pc:docMkLst>
        <pc:docMk/>
      </pc:docMkLst>
      <pc:sldChg chg="modSp">
        <pc:chgData name="" userId="" providerId="" clId="Web-{C5010DC6-87E4-7362-4B69-5807FC0A9A0A}" dt="2026-04-14T20:25:53.176" v="1" actId="1076"/>
        <pc:sldMkLst>
          <pc:docMk/>
          <pc:sldMk cId="0" sldId="256"/>
        </pc:sldMkLst>
        <pc:spChg chg="mod">
          <ac:chgData name="" userId="" providerId="" clId="Web-{C5010DC6-87E4-7362-4B69-5807FC0A9A0A}" dt="2026-04-14T20:25:53.176" v="1" actId="1076"/>
          <ac:spMkLst>
            <pc:docMk/>
            <pc:sldMk cId="0" sldId="256"/>
            <ac:spMk id="21" creationId="{0EE65D12-DD24-3E32-C824-763B57C1C251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380820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Let me begin with a story.</a:t>
            </a:r>
          </a:p>
          <a:p>
            <a:r>
              <a:rPr lang="en-US"/>
              <a:t>Imagine a patient named Mary.</a:t>
            </a:r>
          </a:p>
          <a:p>
            <a:r>
              <a:rPr lang="en-US"/>
              <a:t>For years Mary visited the same hospital. She trusted her doctor, scheduled regular checkups, and followed treatment plans.</a:t>
            </a:r>
          </a:p>
          <a:p>
            <a:r>
              <a:rPr lang="en-US"/>
              <a:t>But slowly small things changed.</a:t>
            </a:r>
          </a:p>
          <a:p>
            <a:r>
              <a:rPr lang="en-US"/>
              <a:t>Her wait time increased.</a:t>
            </a:r>
            <a:br>
              <a:rPr lang="en-US">
                <a:cs typeface="+mn-lt"/>
              </a:rPr>
            </a:br>
            <a:r>
              <a:rPr lang="en-US"/>
              <a:t> Her last bill was higher than expected.</a:t>
            </a:r>
            <a:br>
              <a:rPr lang="en-US">
                <a:cs typeface="+mn-lt"/>
              </a:rPr>
            </a:br>
            <a:r>
              <a:rPr lang="en-US"/>
              <a:t> The clinic was now a little farther from where she worked.</a:t>
            </a:r>
          </a:p>
          <a:p>
            <a:r>
              <a:rPr lang="en-US"/>
              <a:t>Mary skipped one appointment.</a:t>
            </a:r>
          </a:p>
          <a:p>
            <a:r>
              <a:rPr lang="en-US"/>
              <a:t>Then another.</a:t>
            </a:r>
          </a:p>
          <a:p>
            <a:r>
              <a:rPr lang="en-US"/>
              <a:t>Six months later the hospital realized something important:</a:t>
            </a:r>
          </a:p>
          <a:p>
            <a:r>
              <a:rPr lang="en-US"/>
              <a:t>Mary had quietly stopped coming.</a:t>
            </a:r>
          </a:p>
          <a:p>
            <a:r>
              <a:rPr lang="en-US"/>
              <a:t>And this is the challenge healthcare systems face today.</a:t>
            </a:r>
          </a:p>
          <a:p>
            <a:r>
              <a:rPr lang="en-US"/>
              <a:t>Patients rarely leave suddenly. They </a:t>
            </a:r>
            <a:r>
              <a:rPr lang="en-US" b="1"/>
              <a:t>gradually disengage</a:t>
            </a:r>
            <a:r>
              <a:rPr lang="en-US"/>
              <a:t>.</a:t>
            </a:r>
          </a:p>
          <a:p>
            <a:r>
              <a:rPr lang="en-US"/>
              <a:t>From a data science perspective this creates two questions:</a:t>
            </a:r>
          </a:p>
          <a:p>
            <a:pPr marL="171450" indent="-171450">
              <a:buFont typeface="Arial"/>
              <a:buChar char="•"/>
            </a:pPr>
            <a:r>
              <a:rPr lang="en-US" b="1"/>
              <a:t>Can we predict which patients are likely to leave?</a:t>
            </a:r>
            <a:r>
              <a:rPr lang="en-US"/>
              <a:t> </a:t>
            </a:r>
          </a:p>
          <a:p>
            <a:pPr marL="171450" indent="-171450">
              <a:buFont typeface="Arial"/>
              <a:buChar char="•"/>
            </a:pPr>
            <a:r>
              <a:rPr lang="en-US" b="1"/>
              <a:t>And more importantly, when does the risk begin to rise?</a:t>
            </a:r>
            <a:r>
              <a:rPr lang="en-US"/>
              <a:t> </a:t>
            </a:r>
          </a:p>
          <a:p>
            <a:r>
              <a:rPr lang="en-US"/>
              <a:t>Our project addresses both questions using </a:t>
            </a:r>
            <a:r>
              <a:rPr lang="en-US" b="1"/>
              <a:t>machine learning and survival analysis</a:t>
            </a:r>
            <a:r>
              <a:rPr lang="en-US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Patient churn is not only a healthcare problem but also an economic one.</a:t>
            </a:r>
          </a:p>
          <a:p>
            <a:r>
              <a:rPr lang="en-US"/>
              <a:t>Studies show that acquiring a new customer can cost </a:t>
            </a:r>
            <a:r>
              <a:rPr lang="en-US" b="1"/>
              <a:t>five to ten times more than retaining an existing one</a:t>
            </a:r>
            <a:r>
              <a:rPr lang="en-US"/>
              <a:t>.</a:t>
            </a:r>
          </a:p>
          <a:p>
            <a:r>
              <a:rPr lang="en-US"/>
              <a:t>In healthcare, churn can also mean interruptions in treatment and poorer health outcomes.</a:t>
            </a:r>
          </a:p>
          <a:p>
            <a:r>
              <a:rPr lang="en-US"/>
              <a:t>Our research therefore focuses on 3 objectives:</a:t>
            </a:r>
          </a:p>
          <a:p>
            <a:r>
              <a:rPr lang="en-US"/>
              <a:t>• identify the </a:t>
            </a:r>
            <a:r>
              <a:rPr lang="en-US" b="1"/>
              <a:t>signals of patient disengagement</a:t>
            </a:r>
            <a:br>
              <a:rPr lang="en-US" b="1">
                <a:cs typeface="+mn-lt"/>
              </a:rPr>
            </a:br>
            <a:r>
              <a:rPr lang="en-US" b="1"/>
              <a:t> • build models that predict who may churn</a:t>
            </a:r>
            <a:br>
              <a:rPr lang="en-US" b="1">
                <a:cs typeface="+mn-lt"/>
              </a:rPr>
            </a:br>
            <a:r>
              <a:rPr lang="en-US" b="1"/>
              <a:t> • and understand when churn risk accelerates</a:t>
            </a:r>
            <a:r>
              <a:rPr lang="en-US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What makes this dataset powerful is that it is </a:t>
            </a:r>
            <a:r>
              <a:rPr lang="en-US" b="1"/>
              <a:t>longitudinal</a:t>
            </a:r>
            <a:r>
              <a:rPr lang="en-US"/>
              <a:t>:</a:t>
            </a:r>
            <a:br>
              <a:rPr lang="en-US">
                <a:cs typeface="+mn-lt"/>
              </a:rPr>
            </a:br>
            <a:r>
              <a:rPr lang="en-US"/>
              <a:t> --It tracks how long patients remain active before churn.</a:t>
            </a:r>
          </a:p>
          <a:p>
            <a:r>
              <a:rPr lang="en-US"/>
              <a:t>This allows us to move from:</a:t>
            </a:r>
          </a:p>
          <a:p>
            <a:pPr marL="171450" indent="-171450">
              <a:buFont typeface="Arial"/>
              <a:buChar char="•"/>
            </a:pPr>
            <a:r>
              <a:rPr lang="en-US"/>
              <a:t>Static prediction</a:t>
            </a:r>
            <a:br>
              <a:rPr lang="en-US">
                <a:cs typeface="+mn-lt"/>
              </a:rPr>
            </a:br>
            <a:r>
              <a:rPr lang="en-US"/>
              <a:t> --to </a:t>
            </a:r>
            <a:r>
              <a:rPr lang="en-US" b="1"/>
              <a:t>time-aware modeling</a:t>
            </a:r>
            <a:r>
              <a:rPr lang="en-US"/>
              <a:t> </a:t>
            </a:r>
          </a:p>
          <a:p>
            <a:r>
              <a:rPr lang="en-US"/>
              <a:t>Also note:</a:t>
            </a:r>
          </a:p>
          <a:p>
            <a:pPr marL="171450" indent="-171450">
              <a:buFont typeface="Arial"/>
              <a:buChar char="•"/>
            </a:pPr>
            <a:r>
              <a:rPr lang="en-US"/>
              <a:t>No missing values </a:t>
            </a:r>
          </a:p>
          <a:p>
            <a:pPr marL="171450" indent="-171450">
              <a:buFont typeface="Arial"/>
              <a:buChar char="•"/>
            </a:pPr>
            <a:r>
              <a:rPr lang="en-US"/>
              <a:t>No duplicates </a:t>
            </a:r>
          </a:p>
          <a:p>
            <a:pPr marL="171450" indent="-171450">
              <a:buFont typeface="Arial"/>
              <a:buChar char="•"/>
            </a:pPr>
            <a:r>
              <a:rPr lang="en-US"/>
              <a:t>But an </a:t>
            </a:r>
            <a:r>
              <a:rPr lang="en-US" b="1"/>
              <a:t>imbalanced dataset</a:t>
            </a:r>
            <a:r>
              <a:rPr lang="en-US"/>
              <a:t>: ~68% churned </a:t>
            </a:r>
          </a:p>
          <a:p>
            <a:r>
              <a:rPr lang="en-US"/>
              <a:t>This is critical — because in healthcare:</a:t>
            </a:r>
            <a:br>
              <a:rPr lang="en-US">
                <a:cs typeface="+mn-lt"/>
              </a:rPr>
            </a:br>
            <a:r>
              <a:rPr lang="en-US"/>
              <a:t> --Missing a churned patient is more costly than a false alarm.</a:t>
            </a:r>
          </a:p>
          <a:p>
            <a:r>
              <a:rPr lang="en-US"/>
              <a:t>So metrics like </a:t>
            </a:r>
            <a:r>
              <a:rPr lang="en-US" b="1"/>
              <a:t>recall and sensitivity</a:t>
            </a:r>
            <a:r>
              <a:rPr lang="en-US"/>
              <a:t> become essential.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key insight here is:</a:t>
            </a:r>
          </a:p>
          <a:p>
            <a:r>
              <a:rPr lang="en-US"/>
              <a:t>  --There is no dominant variable.</a:t>
            </a:r>
            <a:br>
              <a:rPr lang="en-US">
                <a:cs typeface="+mn-lt"/>
              </a:rPr>
            </a:br>
            <a:r>
              <a:rPr lang="en-US"/>
              <a:t> --- Churn is a </a:t>
            </a:r>
            <a:r>
              <a:rPr lang="en-US" b="1"/>
              <a:t>system-level experience problem</a:t>
            </a:r>
            <a:r>
              <a:rPr lang="en-US"/>
              <a:t>.</a:t>
            </a:r>
          </a:p>
          <a:p>
            <a:r>
              <a:rPr lang="en-US"/>
              <a:t>This is important for decision-makers:</a:t>
            </a:r>
            <a:br>
              <a:rPr lang="en-US">
                <a:cs typeface="+mn-lt"/>
              </a:rPr>
            </a:br>
            <a:r>
              <a:rPr lang="en-US"/>
              <a:t> You cannot fix churn with one intervention —</a:t>
            </a:r>
            <a:br>
              <a:rPr lang="en-US">
                <a:cs typeface="+mn-lt"/>
              </a:rPr>
            </a:br>
            <a:r>
              <a:rPr lang="en-US"/>
              <a:t> you must address the </a:t>
            </a:r>
            <a:r>
              <a:rPr lang="en-US" b="1"/>
              <a:t>entire patient journey</a:t>
            </a:r>
            <a:r>
              <a:rPr lang="en-US"/>
              <a:t>.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We also examined categorical predictors such as insurance type.</a:t>
            </a:r>
          </a:p>
          <a:p>
            <a:r>
              <a:rPr lang="en-US"/>
              <a:t>Interestingly, churn rates were very similar across categories:</a:t>
            </a:r>
          </a:p>
          <a:p>
            <a:r>
              <a:rPr lang="en-US"/>
              <a:t>Medicaid: </a:t>
            </a:r>
            <a:r>
              <a:rPr lang="en-US" b="1"/>
              <a:t>70.5% / Medicare: 66.7% / Private insurance: 69.4%</a:t>
            </a:r>
            <a:endParaRPr lang="en-US"/>
          </a:p>
          <a:p>
            <a:r>
              <a:rPr lang="en-US"/>
              <a:t>The difference between the highest and lowest rate is only </a:t>
            </a:r>
            <a:r>
              <a:rPr lang="en-US" b="1"/>
              <a:t>3.8 percentage points</a:t>
            </a:r>
            <a:r>
              <a:rPr lang="en-US"/>
              <a:t>.</a:t>
            </a:r>
          </a:p>
          <a:p>
            <a:r>
              <a:rPr lang="en-US"/>
              <a:t>Supporting chi-square tests showed these categorical variables were </a:t>
            </a:r>
            <a:r>
              <a:rPr lang="en-US" b="1"/>
              <a:t>not statistically significant on their own</a:t>
            </a:r>
            <a:r>
              <a:rPr lang="en-US"/>
              <a:t>.</a:t>
            </a:r>
          </a:p>
          <a:p>
            <a:r>
              <a:rPr lang="en-US"/>
              <a:t>This suggests that </a:t>
            </a:r>
            <a:r>
              <a:rPr lang="en-US" b="1"/>
              <a:t>experience </a:t>
            </a:r>
            <a:r>
              <a:rPr lang="en-US"/>
              <a:t>and </a:t>
            </a:r>
            <a:r>
              <a:rPr lang="en-US" b="1"/>
              <a:t>engagement factors </a:t>
            </a:r>
            <a:r>
              <a:rPr lang="en-US"/>
              <a:t>are </a:t>
            </a:r>
            <a:r>
              <a:rPr lang="en-US" b="1"/>
              <a:t>stronger predictors than insurance type</a:t>
            </a:r>
            <a:r>
              <a:rPr lang="en-US"/>
              <a:t>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Statistical Differences</a:t>
            </a:r>
            <a:endParaRPr lang="en-US"/>
          </a:p>
          <a:p>
            <a:r>
              <a:rPr lang="en-US"/>
              <a:t>When we compare retained and churned patients, several variables show meaningful differences.</a:t>
            </a:r>
          </a:p>
          <a:p>
            <a:r>
              <a:rPr lang="en-US"/>
              <a:t>For example:</a:t>
            </a:r>
          </a:p>
          <a:p>
            <a:r>
              <a:rPr lang="en-US"/>
              <a:t>• Overall satisfaction: </a:t>
            </a:r>
            <a:r>
              <a:rPr lang="en-US" b="1"/>
              <a:t>3.48 vs 3.15</a:t>
            </a:r>
            <a:r>
              <a:rPr lang="en-US" b="1">
                <a:cs typeface="+mn-lt"/>
              </a:rPr>
              <a:t>  ....</a:t>
            </a:r>
            <a:endParaRPr lang="en-US"/>
          </a:p>
          <a:p>
            <a:r>
              <a:rPr lang="en-US"/>
              <a:t>These results suggest that churn signals often appear through </a:t>
            </a:r>
            <a:r>
              <a:rPr lang="en-US" b="1"/>
              <a:t>experience quality and visit recency</a:t>
            </a:r>
            <a:r>
              <a:rPr lang="en-US"/>
              <a:t>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To predict churn risk we tested four models:</a:t>
            </a:r>
          </a:p>
          <a:p>
            <a:r>
              <a:rPr lang="en-US"/>
              <a:t>• Logistic Regression  • Random Forest  • Boosted Trees  • k-Nearest Neighbors.</a:t>
            </a:r>
          </a:p>
          <a:p>
            <a:r>
              <a:rPr lang="en-US"/>
              <a:t>The evaluation framework used:</a:t>
            </a:r>
          </a:p>
          <a:p>
            <a:r>
              <a:rPr lang="en-US"/>
              <a:t>• an </a:t>
            </a:r>
            <a:r>
              <a:rPr lang="en-US" b="1"/>
              <a:t>80/20 train-test split</a:t>
            </a:r>
            <a:br>
              <a:rPr lang="en-US" b="1">
                <a:cs typeface="+mn-lt"/>
              </a:rPr>
            </a:br>
            <a:r>
              <a:rPr lang="en-US" b="1"/>
              <a:t> • 5-fold cross-validation</a:t>
            </a:r>
            <a:br>
              <a:rPr lang="en-US" b="1">
                <a:cs typeface="+mn-lt"/>
              </a:rPr>
            </a:br>
            <a:r>
              <a:rPr lang="en-US" b="1"/>
              <a:t> • and several performance metrics.</a:t>
            </a:r>
            <a:endParaRPr lang="en-US"/>
          </a:p>
          <a:p>
            <a:r>
              <a:rPr lang="en-US"/>
              <a:t>For early detection, </a:t>
            </a:r>
            <a:r>
              <a:rPr lang="en-US" b="1"/>
              <a:t>ROC AUC was our most important metric</a:t>
            </a:r>
            <a:r>
              <a:rPr lang="en-US"/>
              <a:t>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Model Results</a:t>
            </a:r>
            <a:endParaRPr lang="en-US"/>
          </a:p>
          <a:p>
            <a:r>
              <a:rPr lang="en-US"/>
              <a:t>Confusion Matrixes</a:t>
            </a:r>
          </a:p>
          <a:p>
            <a:r>
              <a:rPr lang="en-US"/>
              <a:t>“The ROC AUC results were:</a:t>
            </a:r>
          </a:p>
          <a:p>
            <a:r>
              <a:rPr lang="en-US"/>
              <a:t>Logistic Regression: </a:t>
            </a:r>
            <a:r>
              <a:rPr lang="en-US" b="1"/>
              <a:t>0.65</a:t>
            </a:r>
            <a:br>
              <a:rPr lang="en-US" b="1">
                <a:cs typeface="+mn-lt"/>
              </a:rPr>
            </a:br>
            <a:r>
              <a:rPr lang="en-US" b="1"/>
              <a:t> Random Forest: 0.63</a:t>
            </a:r>
            <a:br>
              <a:rPr lang="en-US" b="1">
                <a:cs typeface="+mn-lt"/>
              </a:rPr>
            </a:br>
            <a:r>
              <a:rPr lang="en-US" b="1"/>
              <a:t> Boosted Tree: 0.60</a:t>
            </a:r>
            <a:br>
              <a:rPr lang="en-US" b="1">
                <a:cs typeface="+mn-lt"/>
              </a:rPr>
            </a:br>
            <a:r>
              <a:rPr lang="en-US" b="1"/>
              <a:t> k-NN: 0.55’[</a:t>
            </a:r>
            <a:endParaRPr lang="en-US"/>
          </a:p>
          <a:p>
            <a:r>
              <a:rPr lang="en-US"/>
              <a:t>Random Forest achieved strong specificity but extremely low sensitivity — around </a:t>
            </a:r>
            <a:r>
              <a:rPr lang="en-US" b="1"/>
              <a:t>0.07</a:t>
            </a:r>
            <a:r>
              <a:rPr lang="en-US"/>
              <a:t>, meaning it missed most churners.</a:t>
            </a:r>
          </a:p>
          <a:p>
            <a:r>
              <a:rPr lang="en-US"/>
              <a:t>Logistic regression therefore offered the best balance of </a:t>
            </a:r>
            <a:r>
              <a:rPr lang="en-US" b="1"/>
              <a:t>discrimination and interpretability</a:t>
            </a:r>
            <a:r>
              <a:rPr lang="en-US"/>
              <a:t>.”</a:t>
            </a:r>
          </a:p>
          <a:p>
            <a:endParaRPr lang="en-US"/>
          </a:p>
          <a:p>
            <a:r>
              <a:rPr lang="en-US" b="1"/>
              <a:t>Transition to Survival Analysis</a:t>
            </a:r>
            <a:endParaRPr lang="en-US"/>
          </a:p>
          <a:p>
            <a:r>
              <a:rPr lang="en-US"/>
              <a:t>“Machine learning answers an important question: </a:t>
            </a:r>
            <a:r>
              <a:rPr lang="en-US" b="1"/>
              <a:t>Who might leave?</a:t>
            </a:r>
            <a:endParaRPr lang="en-US"/>
          </a:p>
          <a:p>
            <a:r>
              <a:rPr lang="en-US"/>
              <a:t>But healthcare providers also want to know: </a:t>
            </a:r>
            <a:r>
              <a:rPr lang="en-US" b="1"/>
              <a:t>When does the risk begin increasing?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At this point, we can predict </a:t>
            </a:r>
          </a:p>
          <a:p>
            <a:r>
              <a:rPr lang="en-US" i="1"/>
              <a:t>    Who might leave</a:t>
            </a:r>
            <a:endParaRPr lang="en-US"/>
          </a:p>
          <a:p>
            <a:r>
              <a:rPr lang="en-US"/>
              <a:t>But healthcare needs more than that.</a:t>
            </a:r>
          </a:p>
          <a:p>
            <a:r>
              <a:rPr lang="en-US"/>
              <a:t>We need to know:</a:t>
            </a:r>
          </a:p>
          <a:p>
            <a:r>
              <a:rPr lang="en-US"/>
              <a:t>     </a:t>
            </a:r>
            <a:r>
              <a:rPr lang="en-US" i="1"/>
              <a:t>When does risk begin to rise?</a:t>
            </a:r>
            <a:endParaRPr lang="en-US"/>
          </a:p>
          <a:p>
            <a:r>
              <a:rPr lang="en-US"/>
              <a:t>This is where we introduce:</a:t>
            </a:r>
          </a:p>
          <a:p>
            <a:r>
              <a:rPr lang="en-US" b="1"/>
              <a:t> = Cox Proportional Hazards Model</a:t>
            </a:r>
            <a:endParaRPr lang="en-US"/>
          </a:p>
          <a:p>
            <a:r>
              <a:rPr lang="en-US"/>
              <a:t>This model allows us to:</a:t>
            </a:r>
          </a:p>
          <a:p>
            <a:pPr marL="171450" indent="-171450">
              <a:buFont typeface="Arial"/>
              <a:buChar char="•"/>
            </a:pPr>
            <a:r>
              <a:rPr lang="en-US"/>
              <a:t>Analyze time-to-churn </a:t>
            </a:r>
          </a:p>
          <a:p>
            <a:pPr marL="171450" indent="-171450">
              <a:buFont typeface="Arial"/>
              <a:buChar char="•"/>
            </a:pPr>
            <a:r>
              <a:rPr lang="en-US"/>
              <a:t>Understand how variables influence risk over time </a:t>
            </a:r>
          </a:p>
          <a:p>
            <a:r>
              <a:rPr lang="en-US"/>
              <a:t>This is the key shift:</a:t>
            </a:r>
          </a:p>
          <a:p>
            <a:r>
              <a:rPr lang="en-US"/>
              <a:t>   From prediction → to timing.”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C9CC5C-B50F-8DBF-9655-DE62CBE468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C185302-8699-3825-116E-AAB55CD4DB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BF94D4-8D58-2FC1-B63A-1BF6C951CC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==&gt; We compare two models:</a:t>
            </a:r>
          </a:p>
          <a:p>
            <a:r>
              <a:rPr lang="en-US"/>
              <a:t>Full model vs Reduced model.</a:t>
            </a:r>
          </a:p>
          <a:p>
            <a:r>
              <a:rPr lang="en-US"/>
              <a:t>==&gt;The reduced model has:</a:t>
            </a:r>
          </a:p>
          <a:p>
            <a:r>
              <a:rPr lang="en-US"/>
              <a:t>    Lower AIC → better balance of fit and complexity</a:t>
            </a:r>
          </a:p>
          <a:p>
            <a:r>
              <a:rPr lang="en-US"/>
              <a:t>==&gt;Also:</a:t>
            </a:r>
          </a:p>
          <a:p>
            <a:r>
              <a:rPr lang="en-US"/>
              <a:t>   Proportional hazards assumption is satisfied means the model is also valid </a:t>
            </a:r>
          </a:p>
          <a:p>
            <a:r>
              <a:rPr lang="en-US"/>
              <a:t>===&gt;This is where the project becomes powerful because</a:t>
            </a:r>
          </a:p>
          <a:p>
            <a:r>
              <a:rPr lang="en-US"/>
              <a:t>  Not just predicting churn</a:t>
            </a:r>
            <a:br>
              <a:rPr lang="en-US">
                <a:cs typeface="+mn-lt"/>
              </a:rPr>
            </a:br>
            <a:r>
              <a:rPr lang="en-US"/>
              <a:t>   But modeling how risk evolves over time.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F52D4B-10C8-0DA9-E57E-AB61F2C467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796596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===&gt;Now let’s interpret the results: </a:t>
            </a:r>
          </a:p>
          <a:p>
            <a:pPr marL="171450" indent="-171450">
              <a:buFont typeface="Arial"/>
              <a:buChar char="•"/>
            </a:pPr>
            <a:r>
              <a:rPr lang="en-US"/>
              <a:t>  Satisfaction reduces risk </a:t>
            </a:r>
          </a:p>
          <a:p>
            <a:pPr marL="171450" indent="-171450">
              <a:buFont typeface="Arial"/>
              <a:buChar char="•"/>
            </a:pPr>
            <a:r>
              <a:rPr lang="en-US"/>
              <a:t>Time since last visit increases risk </a:t>
            </a:r>
          </a:p>
          <a:p>
            <a:pPr marL="171450" indent="-171450">
              <a:buFont typeface="Arial"/>
              <a:buChar char="•"/>
            </a:pPr>
            <a:r>
              <a:rPr lang="en-US"/>
              <a:t>Distance increases risk</a:t>
            </a:r>
          </a:p>
          <a:p>
            <a:r>
              <a:rPr lang="en-US"/>
              <a:t>==&gt;But the key insight is this:</a:t>
            </a:r>
          </a:p>
          <a:p>
            <a:r>
              <a:rPr lang="en-US"/>
              <a:t>    Risk does not jump…</a:t>
            </a:r>
          </a:p>
          <a:p>
            <a:r>
              <a:rPr lang="en-US"/>
              <a:t>    It accumulates.</a:t>
            </a:r>
          </a:p>
          <a:p>
            <a:r>
              <a:rPr lang="en-US"/>
              <a:t>==&gt;Especially:</a:t>
            </a:r>
          </a:p>
          <a:p>
            <a:r>
              <a:rPr lang="en-US"/>
              <a:t>   Time since last visit acts as a </a:t>
            </a:r>
            <a:r>
              <a:rPr lang="en-US" b="1"/>
              <a:t>silent driver</a:t>
            </a:r>
            <a:endParaRPr lang="en-US"/>
          </a:p>
          <a:p>
            <a:r>
              <a:rPr lang="en-US"/>
              <a:t>This is where intervention should happen</a:t>
            </a:r>
          </a:p>
          <a:p>
            <a:endParaRPr lang="en-US"/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==&gt;The survival curve shows the probability that a patient is still active over time </a:t>
            </a:r>
          </a:p>
          <a:p>
            <a:pPr marL="171450" indent="-171450">
              <a:buFont typeface="Arial"/>
              <a:buChar char="•"/>
            </a:pPr>
            <a:r>
              <a:rPr lang="en-US"/>
              <a:t>At the beginning → almost all patients are active </a:t>
            </a:r>
          </a:p>
          <a:p>
            <a:pPr marL="171450" indent="-171450">
              <a:buFont typeface="Arial"/>
              <a:buChar char="•"/>
            </a:pPr>
            <a:r>
              <a:rPr lang="en-US"/>
              <a:t>Over time → more patients drop out (churn) </a:t>
            </a:r>
          </a:p>
          <a:p>
            <a:pPr marL="171450" indent="-171450">
              <a:buFont typeface="Arial"/>
              <a:buChar char="•"/>
            </a:pPr>
            <a:r>
              <a:rPr lang="en-US"/>
              <a:t>So the curve </a:t>
            </a:r>
            <a:r>
              <a:rPr lang="en-US" b="1"/>
              <a:t>gradually declines</a:t>
            </a:r>
            <a:endParaRPr lang="en-US"/>
          </a:p>
          <a:p>
            <a:r>
              <a:rPr lang="en-US"/>
              <a:t>===&gt;The cumulative hazard curve shows:</a:t>
            </a:r>
          </a:p>
          <a:p>
            <a:r>
              <a:rPr lang="en-US"/>
              <a:t>   Risk accelerates over time</a:t>
            </a:r>
          </a:p>
          <a:p>
            <a:r>
              <a:rPr lang="en-US"/>
              <a:t>So:</a:t>
            </a:r>
          </a:p>
          <a:p>
            <a:r>
              <a:rPr lang="en-US"/>
              <a:t>    -Early intervention is essential</a:t>
            </a:r>
            <a:br>
              <a:rPr lang="en-US">
                <a:cs typeface="+mn-lt"/>
              </a:rPr>
            </a:br>
            <a:r>
              <a:rPr lang="en-US"/>
              <a:t>   - Waiting too long leads to rapid disengagement”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Here two </a:t>
            </a:r>
            <a:r>
              <a:rPr lang="en-US" err="1"/>
              <a:t>patiens</a:t>
            </a:r>
            <a:r>
              <a:rPr lang="en-US"/>
              <a:t> with : Same system but different behavior .</a:t>
            </a:r>
          </a:p>
          <a:p>
            <a:endParaRPr lang="en-US"/>
          </a:p>
          <a:p>
            <a:r>
              <a:rPr lang="en-US"/>
              <a:t>This shows:</a:t>
            </a:r>
          </a:p>
          <a:p>
            <a:r>
              <a:rPr lang="en-US"/>
              <a:t>     Small differences in behavior lead to large differences over time</a:t>
            </a:r>
          </a:p>
          <a:p>
            <a:r>
              <a:rPr lang="en-US"/>
              <a:t>This is the strongest argument for:</a:t>
            </a:r>
            <a:br>
              <a:rPr lang="en-US">
                <a:cs typeface="+mn-lt"/>
              </a:rPr>
            </a:br>
            <a:r>
              <a:rPr lang="en-US"/>
              <a:t>    Personalized intervention strategies”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Slide 15 — Conclusion </a:t>
            </a:r>
            <a:br>
              <a:rPr lang="en-US" b="1">
                <a:cs typeface="+mn-lt"/>
              </a:rPr>
            </a:br>
            <a:r>
              <a:rPr lang="en-US"/>
              <a:t>Our findings highlight several key drivers of patient churn:</a:t>
            </a:r>
          </a:p>
          <a:p>
            <a:r>
              <a:rPr lang="en-US"/>
              <a:t>• declining satisfaction • longer gaps since visits • distance and cost barriers • reduced engagement.</a:t>
            </a:r>
          </a:p>
          <a:p>
            <a:r>
              <a:rPr lang="en-US"/>
              <a:t>Machine learning helps identify </a:t>
            </a:r>
            <a:r>
              <a:rPr lang="en-US" b="1"/>
              <a:t>who is at risk</a:t>
            </a:r>
            <a:r>
              <a:rPr lang="en-US"/>
              <a:t>.</a:t>
            </a:r>
          </a:p>
          <a:p>
            <a:r>
              <a:rPr lang="en-US"/>
              <a:t>Survival analysis helps identify </a:t>
            </a:r>
            <a:r>
              <a:rPr lang="en-US" b="1"/>
              <a:t>when intervention should occur</a:t>
            </a:r>
            <a:r>
              <a:rPr lang="en-US"/>
              <a:t>.</a:t>
            </a:r>
          </a:p>
          <a:p>
            <a:r>
              <a:rPr lang="en-US"/>
              <a:t>Our recommendation is to implement </a:t>
            </a:r>
            <a:r>
              <a:rPr lang="en-US" b="1"/>
              <a:t>early-warning systems</a:t>
            </a:r>
            <a:r>
              <a:rPr lang="en-US"/>
              <a:t> that monitor engagement patterns and trigger outreach before disengagement becomes permanent churn.</a:t>
            </a:r>
          </a:p>
          <a:p>
            <a:r>
              <a:rPr lang="en-US"/>
              <a:t>Because patients rarely leave care suddenly. They </a:t>
            </a:r>
            <a:r>
              <a:rPr lang="en-US" b="1"/>
              <a:t>gradually disengage until returning no longer seems worth it</a:t>
            </a:r>
            <a:r>
              <a:rPr lang="en-US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Recommendation</a:t>
            </a:r>
            <a:endParaRPr lang="en-US"/>
          </a:p>
          <a:p>
            <a:r>
              <a:rPr lang="en-US" b="1" i="1" dirty="0"/>
              <a:t>Let's maintain low risk patients</a:t>
            </a:r>
            <a:r>
              <a:rPr lang="en-US" dirty="0"/>
              <a:t>: </a:t>
            </a:r>
            <a:r>
              <a:rPr lang="en-US" dirty="0" err="1"/>
              <a:t>reccuring</a:t>
            </a:r>
            <a:r>
              <a:rPr lang="en-US" dirty="0"/>
              <a:t> email (for digital product, bank on referrals)</a:t>
            </a:r>
          </a:p>
          <a:p>
            <a:r>
              <a:rPr lang="en-US" b="1" dirty="0"/>
              <a:t>Hight-risk</a:t>
            </a:r>
            <a:r>
              <a:rPr lang="en-US"/>
              <a:t>: invite patients' kids on play date, WLA job for</a:t>
            </a:r>
            <a:endParaRPr lang="en-US" dirty="0"/>
          </a:p>
          <a:p>
            <a:r>
              <a:rPr lang="en-US"/>
              <a:t>Say with me !!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3CE17A-0EBA-E684-93F6-B3151AF59E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525247-EA1E-A92C-4E94-D77C84300C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A3FB1D-C350-77C1-9073-6BADE68636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4A38BB-0247-3995-A344-947ED78C786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62251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9808" y="804672"/>
            <a:ext cx="63093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900" b="1">
                <a:solidFill>
                  <a:srgbClr val="0F172A"/>
                </a:solidFill>
                <a:latin typeface="Arial"/>
                <a:ea typeface="Arial" pitchFamily="34" charset="-122"/>
                <a:cs typeface="Arial"/>
              </a:rPr>
              <a:t>Why and When Do Patients</a:t>
            </a:r>
            <a:endParaRPr lang="en-US" sz="2900">
              <a:latin typeface="Arial"/>
              <a:cs typeface="Arial"/>
            </a:endParaRPr>
          </a:p>
          <a:p>
            <a:r>
              <a:rPr lang="en-US" sz="2900" b="1">
                <a:solidFill>
                  <a:srgbClr val="0F172A"/>
                </a:solidFill>
                <a:latin typeface="Arial"/>
                <a:ea typeface="Arial" pitchFamily="34" charset="-122"/>
                <a:cs typeface="Arial"/>
              </a:rPr>
              <a:t>Stop Coming Back to a Hospital?</a:t>
            </a:r>
            <a:endParaRPr lang="en-US" sz="2900">
              <a:latin typeface="Arial"/>
              <a:cs typeface="Arial"/>
            </a:endParaRPr>
          </a:p>
        </p:txBody>
      </p:sp>
      <p:sp>
        <p:nvSpPr>
          <p:cNvPr id="3" name="Text 1"/>
          <p:cNvSpPr/>
          <p:nvPr/>
        </p:nvSpPr>
        <p:spPr>
          <a:xfrm>
            <a:off x="786384" y="2487168"/>
            <a:ext cx="5303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>
                <a:solidFill>
                  <a:srgbClr val="2B8C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journey into disengagement in healthcare</a:t>
            </a:r>
            <a:endParaRPr lang="en-US" sz="1700"/>
          </a:p>
        </p:txBody>
      </p:sp>
      <p:sp>
        <p:nvSpPr>
          <p:cNvPr id="4" name="Text 2"/>
          <p:cNvSpPr/>
          <p:nvPr/>
        </p:nvSpPr>
        <p:spPr>
          <a:xfrm>
            <a:off x="786384" y="3072384"/>
            <a:ext cx="53035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Predicting who leaves is helpful.</a:t>
            </a:r>
            <a:endParaRPr lang="en-US" sz="2100"/>
          </a:p>
          <a:p>
            <a:pPr marL="0" indent="0">
              <a:buNone/>
            </a:pPr>
            <a:r>
              <a:rPr lang="en-US" sz="210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Knowing when they begin to leave is powerful.</a:t>
            </a:r>
            <a:endParaRPr lang="en-US" sz="2100"/>
          </a:p>
        </p:txBody>
      </p:sp>
      <p:sp>
        <p:nvSpPr>
          <p:cNvPr id="5" name="Text 3"/>
          <p:cNvSpPr/>
          <p:nvPr/>
        </p:nvSpPr>
        <p:spPr>
          <a:xfrm>
            <a:off x="8156444" y="2010883"/>
            <a:ext cx="114498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2B8C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</a:t>
            </a:r>
            <a:endParaRPr lang="en-US" sz="1600"/>
          </a:p>
        </p:txBody>
      </p:sp>
      <p:sp>
        <p:nvSpPr>
          <p:cNvPr id="6" name="Shape 4"/>
          <p:cNvSpPr/>
          <p:nvPr/>
        </p:nvSpPr>
        <p:spPr>
          <a:xfrm>
            <a:off x="7569640" y="2743200"/>
            <a:ext cx="274320" cy="274320"/>
          </a:xfrm>
          <a:prstGeom prst="ellipse">
            <a:avLst/>
          </a:prstGeom>
          <a:solidFill>
            <a:srgbClr val="5D9C59"/>
          </a:solidFill>
          <a:ln w="12700">
            <a:solidFill>
              <a:srgbClr val="5D9C59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7" name="Shape 5"/>
          <p:cNvSpPr/>
          <p:nvPr/>
        </p:nvSpPr>
        <p:spPr>
          <a:xfrm>
            <a:off x="8182288" y="2871216"/>
            <a:ext cx="274320" cy="274320"/>
          </a:xfrm>
          <a:prstGeom prst="ellipse">
            <a:avLst/>
          </a:prstGeom>
          <a:solidFill>
            <a:srgbClr val="5D9C59"/>
          </a:solidFill>
          <a:ln w="12700">
            <a:solidFill>
              <a:srgbClr val="5D9C59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8" name="Shape 6"/>
          <p:cNvSpPr/>
          <p:nvPr/>
        </p:nvSpPr>
        <p:spPr>
          <a:xfrm>
            <a:off x="8849800" y="3017520"/>
            <a:ext cx="274320" cy="274320"/>
          </a:xfrm>
          <a:prstGeom prst="ellipse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9" name="Shape 7"/>
          <p:cNvSpPr/>
          <p:nvPr/>
        </p:nvSpPr>
        <p:spPr>
          <a:xfrm>
            <a:off x="9517312" y="3349485"/>
            <a:ext cx="274320" cy="274320"/>
          </a:xfrm>
          <a:prstGeom prst="ellipse">
            <a:avLst/>
          </a:prstGeom>
          <a:solidFill>
            <a:srgbClr val="D95F5F"/>
          </a:solidFill>
          <a:ln w="12700">
            <a:solidFill>
              <a:srgbClr val="D95F5F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0" name="Shape 8"/>
          <p:cNvSpPr/>
          <p:nvPr/>
        </p:nvSpPr>
        <p:spPr>
          <a:xfrm>
            <a:off x="10157392" y="4032902"/>
            <a:ext cx="274320" cy="274320"/>
          </a:xfrm>
          <a:prstGeom prst="ellipse">
            <a:avLst/>
          </a:prstGeom>
          <a:solidFill>
            <a:srgbClr val="D95F5F"/>
          </a:solidFill>
          <a:ln w="12700">
            <a:solidFill>
              <a:srgbClr val="D95F5F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1" name="Text 9"/>
          <p:cNvSpPr/>
          <p:nvPr/>
        </p:nvSpPr>
        <p:spPr>
          <a:xfrm>
            <a:off x="7412203" y="3524022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>
                <a:solidFill>
                  <a:srgbClr val="475569"/>
                </a:solidFill>
              </a:rPr>
              <a:t>steady</a:t>
            </a:r>
            <a:endParaRPr lang="en-US" sz="1200"/>
          </a:p>
          <a:p>
            <a:pPr marL="0" indent="0" algn="ctr">
              <a:buNone/>
            </a:pPr>
            <a:r>
              <a:rPr lang="en-US" sz="1200">
                <a:solidFill>
                  <a:srgbClr val="475569"/>
                </a:solidFill>
              </a:rPr>
              <a:t>care</a:t>
            </a:r>
            <a:endParaRPr lang="en-US" sz="1200"/>
          </a:p>
        </p:txBody>
      </p:sp>
      <p:sp>
        <p:nvSpPr>
          <p:cNvPr id="12" name="Text 10"/>
          <p:cNvSpPr/>
          <p:nvPr/>
        </p:nvSpPr>
        <p:spPr>
          <a:xfrm>
            <a:off x="8088859" y="3774486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>
                <a:solidFill>
                  <a:srgbClr val="475569"/>
                </a:solidFill>
              </a:rPr>
              <a:t>missed</a:t>
            </a:r>
            <a:endParaRPr lang="en-US" sz="1200"/>
          </a:p>
          <a:p>
            <a:pPr marL="0" indent="0" algn="ctr">
              <a:buNone/>
            </a:pPr>
            <a:r>
              <a:rPr lang="en-US" sz="1200">
                <a:solidFill>
                  <a:srgbClr val="475569"/>
                </a:solidFill>
              </a:rPr>
              <a:t>visit</a:t>
            </a:r>
            <a:endParaRPr lang="en-US" sz="1200"/>
          </a:p>
        </p:txBody>
      </p:sp>
      <p:sp>
        <p:nvSpPr>
          <p:cNvPr id="13" name="Text 11"/>
          <p:cNvSpPr/>
          <p:nvPr/>
        </p:nvSpPr>
        <p:spPr>
          <a:xfrm>
            <a:off x="8728939" y="394225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>
                <a:solidFill>
                  <a:srgbClr val="475569"/>
                </a:solidFill>
              </a:rPr>
              <a:t>friction</a:t>
            </a:r>
            <a:endParaRPr lang="en-US" sz="1200"/>
          </a:p>
        </p:txBody>
      </p:sp>
      <p:sp>
        <p:nvSpPr>
          <p:cNvPr id="14" name="Text 12"/>
          <p:cNvSpPr/>
          <p:nvPr/>
        </p:nvSpPr>
        <p:spPr>
          <a:xfrm>
            <a:off x="9478747" y="422452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>
                <a:solidFill>
                  <a:srgbClr val="475569"/>
                </a:solidFill>
              </a:rPr>
              <a:t>risk</a:t>
            </a:r>
            <a:endParaRPr lang="en-US" sz="1200"/>
          </a:p>
        </p:txBody>
      </p:sp>
      <p:sp>
        <p:nvSpPr>
          <p:cNvPr id="15" name="Text 13"/>
          <p:cNvSpPr/>
          <p:nvPr/>
        </p:nvSpPr>
        <p:spPr>
          <a:xfrm>
            <a:off x="10036531" y="449884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>
                <a:solidFill>
                  <a:srgbClr val="475569"/>
                </a:solidFill>
              </a:rPr>
              <a:t>churn</a:t>
            </a:r>
            <a:endParaRPr lang="en-US" sz="1200"/>
          </a:p>
        </p:txBody>
      </p:sp>
      <p:sp>
        <p:nvSpPr>
          <p:cNvPr id="16" name="Text 14"/>
          <p:cNvSpPr/>
          <p:nvPr/>
        </p:nvSpPr>
        <p:spPr>
          <a:xfrm>
            <a:off x="786384" y="5760720"/>
            <a:ext cx="5303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DSCI 8750 • Data Science Capstone</a:t>
            </a:r>
            <a:endParaRPr lang="en-US" sz="1500"/>
          </a:p>
          <a:p>
            <a:pPr marL="0" indent="0">
              <a:buNone/>
            </a:pPr>
            <a:r>
              <a:rPr lang="en-US" sz="150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Souleymane Diawara • Baba Sirima</a:t>
            </a:r>
            <a:endParaRPr lang="en-US" sz="1500"/>
          </a:p>
        </p:txBody>
      </p:sp>
      <p:sp>
        <p:nvSpPr>
          <p:cNvPr id="17" name="Text 15"/>
          <p:cNvSpPr/>
          <p:nvPr/>
        </p:nvSpPr>
        <p:spPr>
          <a:xfrm>
            <a:off x="11475720" y="6492240"/>
            <a:ext cx="320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/>
          </a:p>
        </p:txBody>
      </p:sp>
      <p:sp>
        <p:nvSpPr>
          <p:cNvPr id="18" name="Text 3">
            <a:extLst>
              <a:ext uri="{FF2B5EF4-FFF2-40B4-BE49-F238E27FC236}">
                <a16:creationId xmlns:a16="http://schemas.microsoft.com/office/drawing/2014/main" id="{22F29F84-4FD1-5C87-E234-8A653CDFBF06}"/>
              </a:ext>
            </a:extLst>
          </p:cNvPr>
          <p:cNvSpPr/>
          <p:nvPr/>
        </p:nvSpPr>
        <p:spPr>
          <a:xfrm>
            <a:off x="8527771" y="2633472"/>
            <a:ext cx="240527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>
                <a:solidFill>
                  <a:srgbClr val="2B8C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vanishing</a:t>
            </a:r>
            <a:endParaRPr lang="en-US" sz="1600"/>
          </a:p>
        </p:txBody>
      </p:sp>
      <p:sp>
        <p:nvSpPr>
          <p:cNvPr id="19" name="Text 3">
            <a:extLst>
              <a:ext uri="{FF2B5EF4-FFF2-40B4-BE49-F238E27FC236}">
                <a16:creationId xmlns:a16="http://schemas.microsoft.com/office/drawing/2014/main" id="{608670E1-05A6-BB8D-3B18-B2151C8D555E}"/>
              </a:ext>
            </a:extLst>
          </p:cNvPr>
          <p:cNvSpPr/>
          <p:nvPr/>
        </p:nvSpPr>
        <p:spPr>
          <a:xfrm>
            <a:off x="8765715" y="2305876"/>
            <a:ext cx="150319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2B8C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visits</a:t>
            </a:r>
            <a:endParaRPr lang="en-US" sz="160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EE65D12-DD24-3E32-C824-763B57C1C251}"/>
              </a:ext>
            </a:extLst>
          </p:cNvPr>
          <p:cNvSpPr txBox="1"/>
          <p:nvPr/>
        </p:nvSpPr>
        <p:spPr>
          <a:xfrm>
            <a:off x="1137422" y="4028384"/>
            <a:ext cx="7793305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>
                <a:latin typeface="Aptos"/>
              </a:rPr>
              <a:t>using </a:t>
            </a:r>
            <a:r>
              <a:rPr lang="en-US" sz="2000" b="1">
                <a:latin typeface="Aptos"/>
              </a:rPr>
              <a:t>machine learning and survival analysis</a:t>
            </a:r>
            <a:r>
              <a:rPr lang="en-US" sz="2000">
                <a:latin typeface="Aptos"/>
              </a:rPr>
              <a:t>.</a:t>
            </a:r>
            <a:endParaRPr lang="en-US" sz="2000"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713232" y="256032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>
                <a:solidFill>
                  <a:srgbClr val="2B8C85"/>
                </a:solidFill>
                <a:latin typeface="Arial"/>
                <a:ea typeface="Arial" pitchFamily="34" charset="-122"/>
                <a:cs typeface="Arial"/>
              </a:rPr>
              <a:t>Patient churn - </a:t>
            </a:r>
            <a:r>
              <a:rPr lang="en-US" sz="1000" b="1" err="1">
                <a:solidFill>
                  <a:srgbClr val="2B8C85"/>
                </a:solidFill>
                <a:latin typeface="Arial"/>
                <a:ea typeface="Arial" pitchFamily="34" charset="-122"/>
                <a:cs typeface="Arial"/>
              </a:rPr>
              <a:t>sdi</a:t>
            </a:r>
            <a:endParaRPr lang="en-US" sz="1000"/>
          </a:p>
        </p:txBody>
      </p:sp>
      <p:sp>
        <p:nvSpPr>
          <p:cNvPr id="4" name="Shape 2"/>
          <p:cNvSpPr/>
          <p:nvPr/>
        </p:nvSpPr>
        <p:spPr>
          <a:xfrm>
            <a:off x="8503920" y="374904"/>
            <a:ext cx="2304288" cy="0"/>
          </a:xfrm>
          <a:prstGeom prst="line">
            <a:avLst/>
          </a:prstGeom>
          <a:noFill/>
          <a:ln w="12700">
            <a:solidFill>
              <a:srgbClr val="E6EA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503920" y="292608"/>
            <a:ext cx="164592" cy="164592"/>
          </a:xfrm>
          <a:prstGeom prst="ellipse">
            <a:avLst/>
          </a:prstGeom>
          <a:solidFill>
            <a:srgbClr val="D95F5F"/>
          </a:solidFill>
          <a:ln w="12700">
            <a:solidFill>
              <a:srgbClr val="D95F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339328" y="475488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</a:t>
            </a:r>
            <a:endParaRPr lang="en-US" sz="750"/>
          </a:p>
        </p:txBody>
      </p:sp>
      <p:sp>
        <p:nvSpPr>
          <p:cNvPr id="7" name="Shape 5"/>
          <p:cNvSpPr/>
          <p:nvPr/>
        </p:nvSpPr>
        <p:spPr>
          <a:xfrm>
            <a:off x="9079992" y="29260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6EA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915400" y="475488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Signals</a:t>
            </a:r>
            <a:endParaRPr lang="en-US" sz="750"/>
          </a:p>
        </p:txBody>
      </p:sp>
      <p:sp>
        <p:nvSpPr>
          <p:cNvPr id="9" name="Shape 7"/>
          <p:cNvSpPr/>
          <p:nvPr/>
        </p:nvSpPr>
        <p:spPr>
          <a:xfrm>
            <a:off x="9656064" y="29260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6EA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491472" y="475488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Prediction</a:t>
            </a:r>
            <a:endParaRPr lang="en-US" sz="750"/>
          </a:p>
        </p:txBody>
      </p:sp>
      <p:sp>
        <p:nvSpPr>
          <p:cNvPr id="11" name="Shape 9"/>
          <p:cNvSpPr/>
          <p:nvPr/>
        </p:nvSpPr>
        <p:spPr>
          <a:xfrm>
            <a:off x="10232136" y="29260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6EA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0067544" y="475488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Timing</a:t>
            </a:r>
            <a:endParaRPr lang="en-US" sz="750"/>
          </a:p>
        </p:txBody>
      </p:sp>
      <p:sp>
        <p:nvSpPr>
          <p:cNvPr id="13" name="Shape 11"/>
          <p:cNvSpPr/>
          <p:nvPr/>
        </p:nvSpPr>
        <p:spPr>
          <a:xfrm>
            <a:off x="10808208" y="29260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6EA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0643616" y="475488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</a:t>
            </a:r>
            <a:endParaRPr lang="en-US" sz="750"/>
          </a:p>
        </p:txBody>
      </p:sp>
      <p:sp>
        <p:nvSpPr>
          <p:cNvPr id="15" name="Text 13"/>
          <p:cNvSpPr/>
          <p:nvPr/>
        </p:nvSpPr>
        <p:spPr>
          <a:xfrm>
            <a:off x="713232" y="621792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500" b="1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Silent Drop-Off - </a:t>
            </a:r>
            <a:r>
              <a:rPr lang="en-US" b="1"/>
              <a:t>Motivation &amp; Research Question</a:t>
            </a:r>
            <a:endParaRPr lang="en-US" sz="2500"/>
          </a:p>
        </p:txBody>
      </p:sp>
      <p:sp>
        <p:nvSpPr>
          <p:cNvPr id="16" name="Shape 14"/>
          <p:cNvSpPr/>
          <p:nvPr/>
        </p:nvSpPr>
        <p:spPr>
          <a:xfrm>
            <a:off x="713232" y="1170432"/>
            <a:ext cx="10789920" cy="0"/>
          </a:xfrm>
          <a:prstGeom prst="line">
            <a:avLst/>
          </a:prstGeom>
          <a:noFill/>
          <a:ln w="12700">
            <a:solidFill>
              <a:srgbClr val="E6EA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68096" y="141732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>
                <a:solidFill>
                  <a:srgbClr val="D95F5F"/>
                </a:solidFill>
              </a:rPr>
              <a:t>Patients do not leave overnight.</a:t>
            </a:r>
            <a:endParaRPr lang="en-US" sz="2300"/>
          </a:p>
        </p:txBody>
      </p:sp>
      <p:sp>
        <p:nvSpPr>
          <p:cNvPr id="18" name="Text 16"/>
          <p:cNvSpPr/>
          <p:nvPr/>
        </p:nvSpPr>
        <p:spPr>
          <a:xfrm>
            <a:off x="768096" y="1847088"/>
            <a:ext cx="4892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>
                <a:solidFill>
                  <a:srgbClr val="0F172A"/>
                </a:solidFill>
              </a:rPr>
              <a:t>They disengage gradually until returning no longer feels worth it.</a:t>
            </a:r>
            <a:endParaRPr lang="en-US" sz="1900"/>
          </a:p>
        </p:txBody>
      </p:sp>
      <p:sp>
        <p:nvSpPr>
          <p:cNvPr id="19" name="Text 17"/>
          <p:cNvSpPr/>
          <p:nvPr/>
        </p:nvSpPr>
        <p:spPr>
          <a:xfrm>
            <a:off x="804672" y="2854238"/>
            <a:ext cx="4480560" cy="14447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0F172A"/>
                </a:solidFill>
              </a:rPr>
              <a:t>What disengagement looks like
</a:t>
            </a:r>
            <a:r>
              <a:rPr lang="en-US" sz="1800">
                <a:solidFill>
                  <a:srgbClr val="475569"/>
                </a:solidFill>
              </a:rPr>
              <a:t>• Missed appointments</a:t>
            </a:r>
            <a:endParaRPr lang="en-US" sz="1800"/>
          </a:p>
          <a:p>
            <a:pPr marL="0" indent="0">
              <a:buNone/>
            </a:pPr>
            <a:r>
              <a:rPr lang="en-US" sz="1800">
                <a:solidFill>
                  <a:srgbClr val="475569"/>
                </a:solidFill>
              </a:rPr>
              <a:t>• Longer gaps since the last visit</a:t>
            </a:r>
            <a:endParaRPr lang="en-US" sz="1800"/>
          </a:p>
          <a:p>
            <a:pPr marL="0" indent="0">
              <a:buNone/>
            </a:pPr>
            <a:r>
              <a:rPr lang="en-US" sz="1800">
                <a:solidFill>
                  <a:srgbClr val="475569"/>
                </a:solidFill>
              </a:rPr>
              <a:t>• Lower satisfaction with care</a:t>
            </a:r>
            <a:endParaRPr lang="en-US" sz="1800"/>
          </a:p>
          <a:p>
            <a:pPr marL="0" indent="0">
              <a:buNone/>
            </a:pPr>
            <a:r>
              <a:rPr lang="en-US" sz="1800">
                <a:solidFill>
                  <a:srgbClr val="475569"/>
                </a:solidFill>
              </a:rPr>
              <a:t>• Greater financial and access friction</a:t>
            </a:r>
            <a:endParaRPr lang="en-US" sz="1800"/>
          </a:p>
        </p:txBody>
      </p:sp>
      <p:sp>
        <p:nvSpPr>
          <p:cNvPr id="20" name="Text 18"/>
          <p:cNvSpPr/>
          <p:nvPr/>
        </p:nvSpPr>
        <p:spPr>
          <a:xfrm>
            <a:off x="804672" y="4813663"/>
            <a:ext cx="4480560" cy="11430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0F172A"/>
                </a:solidFill>
              </a:rPr>
              <a:t>Our goal
</a:t>
            </a:r>
            <a:r>
              <a:rPr lang="en-US" sz="1800">
                <a:solidFill>
                  <a:srgbClr val="475569"/>
                </a:solidFill>
              </a:rPr>
              <a:t>Detect early disengagement</a:t>
            </a:r>
            <a:endParaRPr lang="en-US" sz="1800"/>
          </a:p>
          <a:p>
            <a:pPr marL="0" indent="0">
              <a:buNone/>
            </a:pPr>
            <a:r>
              <a:rPr lang="en-US" sz="1800">
                <a:solidFill>
                  <a:srgbClr val="475569"/>
                </a:solidFill>
              </a:rPr>
              <a:t>Predict who is at risk</a:t>
            </a:r>
            <a:endParaRPr lang="en-US" sz="1800"/>
          </a:p>
          <a:p>
            <a:pPr marL="0" indent="0">
              <a:buNone/>
            </a:pPr>
            <a:r>
              <a:rPr lang="en-US" sz="1800">
                <a:solidFill>
                  <a:srgbClr val="475569"/>
                </a:solidFill>
              </a:rPr>
              <a:t>Understand when risk begins to accelerate</a:t>
            </a:r>
            <a:endParaRPr lang="en-US" sz="1800"/>
          </a:p>
        </p:txBody>
      </p:sp>
      <p:sp>
        <p:nvSpPr>
          <p:cNvPr id="21" name="Shape 19"/>
          <p:cNvSpPr/>
          <p:nvPr/>
        </p:nvSpPr>
        <p:spPr>
          <a:xfrm>
            <a:off x="5989320" y="1444752"/>
            <a:ext cx="5440680" cy="4526280"/>
          </a:xfrm>
          <a:prstGeom prst="roundRect">
            <a:avLst>
              <a:gd name="adj" fmla="val 1212"/>
            </a:avLst>
          </a:prstGeom>
          <a:solidFill>
            <a:srgbClr val="FCFDFC"/>
          </a:solidFill>
          <a:ln w="12700">
            <a:solidFill>
              <a:srgbClr val="E6EA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720840" y="1874520"/>
            <a:ext cx="0" cy="3456432"/>
          </a:xfrm>
          <a:prstGeom prst="line">
            <a:avLst/>
          </a:prstGeom>
          <a:noFill/>
          <a:ln w="12700">
            <a:solidFill>
              <a:srgbClr val="2B8C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601968" y="1874520"/>
            <a:ext cx="237744" cy="237744"/>
          </a:xfrm>
          <a:prstGeom prst="ellipse">
            <a:avLst/>
          </a:prstGeom>
          <a:solidFill>
            <a:srgbClr val="5D9C59"/>
          </a:solidFill>
          <a:ln w="12700">
            <a:solidFill>
              <a:srgbClr val="5D9C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040880" y="1847088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0F172A"/>
                </a:solidFill>
              </a:rPr>
              <a:t>Keeps appointments</a:t>
            </a:r>
            <a:endParaRPr lang="en-US" sz="1700"/>
          </a:p>
        </p:txBody>
      </p:sp>
      <p:sp>
        <p:nvSpPr>
          <p:cNvPr id="25" name="Text 23"/>
          <p:cNvSpPr/>
          <p:nvPr/>
        </p:nvSpPr>
        <p:spPr>
          <a:xfrm>
            <a:off x="7040880" y="208483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>
                <a:solidFill>
                  <a:srgbClr val="475569"/>
                </a:solidFill>
              </a:rPr>
              <a:t>Stable care relationship</a:t>
            </a:r>
            <a:endParaRPr lang="en-US" sz="1350"/>
          </a:p>
        </p:txBody>
      </p:sp>
      <p:sp>
        <p:nvSpPr>
          <p:cNvPr id="26" name="Shape 24"/>
          <p:cNvSpPr/>
          <p:nvPr/>
        </p:nvSpPr>
        <p:spPr>
          <a:xfrm>
            <a:off x="6601968" y="2834640"/>
            <a:ext cx="237744" cy="237744"/>
          </a:xfrm>
          <a:prstGeom prst="ellipse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040880" y="2807208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0F172A"/>
                </a:solidFill>
              </a:rPr>
              <a:t>Misses a visit</a:t>
            </a:r>
            <a:endParaRPr lang="en-US" sz="1700"/>
          </a:p>
        </p:txBody>
      </p:sp>
      <p:sp>
        <p:nvSpPr>
          <p:cNvPr id="28" name="Text 26"/>
          <p:cNvSpPr/>
          <p:nvPr/>
        </p:nvSpPr>
        <p:spPr>
          <a:xfrm>
            <a:off x="7040880" y="304495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>
                <a:solidFill>
                  <a:srgbClr val="475569"/>
                </a:solidFill>
              </a:rPr>
              <a:t>Routine starts to weaken</a:t>
            </a:r>
            <a:endParaRPr lang="en-US" sz="1350"/>
          </a:p>
        </p:txBody>
      </p:sp>
      <p:sp>
        <p:nvSpPr>
          <p:cNvPr id="29" name="Shape 27"/>
          <p:cNvSpPr/>
          <p:nvPr/>
        </p:nvSpPr>
        <p:spPr>
          <a:xfrm>
            <a:off x="6601968" y="3749040"/>
            <a:ext cx="237744" cy="237744"/>
          </a:xfrm>
          <a:prstGeom prst="ellipse">
            <a:avLst/>
          </a:prstGeom>
          <a:solidFill>
            <a:srgbClr val="D95F5F"/>
          </a:solidFill>
          <a:ln w="12700">
            <a:solidFill>
              <a:srgbClr val="D95F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7040880" y="3721608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0F172A"/>
                </a:solidFill>
              </a:rPr>
              <a:t>Stops returning often</a:t>
            </a:r>
            <a:endParaRPr lang="en-US" sz="1700"/>
          </a:p>
        </p:txBody>
      </p:sp>
      <p:sp>
        <p:nvSpPr>
          <p:cNvPr id="31" name="Text 29"/>
          <p:cNvSpPr/>
          <p:nvPr/>
        </p:nvSpPr>
        <p:spPr>
          <a:xfrm>
            <a:off x="7040880" y="395935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>
                <a:solidFill>
                  <a:srgbClr val="475569"/>
                </a:solidFill>
              </a:rPr>
              <a:t>Distance, cost, or dissatisfaction grows</a:t>
            </a:r>
            <a:endParaRPr lang="en-US" sz="1350"/>
          </a:p>
        </p:txBody>
      </p:sp>
      <p:sp>
        <p:nvSpPr>
          <p:cNvPr id="32" name="Shape 30"/>
          <p:cNvSpPr/>
          <p:nvPr/>
        </p:nvSpPr>
        <p:spPr>
          <a:xfrm>
            <a:off x="6601968" y="4709160"/>
            <a:ext cx="237744" cy="237744"/>
          </a:xfrm>
          <a:prstGeom prst="ellipse">
            <a:avLst/>
          </a:prstGeom>
          <a:solidFill>
            <a:srgbClr val="D95F5F"/>
          </a:solidFill>
          <a:ln w="12700">
            <a:solidFill>
              <a:srgbClr val="D95F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7040880" y="4681728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0F172A"/>
                </a:solidFill>
              </a:rPr>
              <a:t>Quietly leaves care</a:t>
            </a:r>
            <a:endParaRPr lang="en-US" sz="1700"/>
          </a:p>
        </p:txBody>
      </p:sp>
      <p:sp>
        <p:nvSpPr>
          <p:cNvPr id="34" name="Text 32"/>
          <p:cNvSpPr/>
          <p:nvPr/>
        </p:nvSpPr>
        <p:spPr>
          <a:xfrm>
            <a:off x="7040880" y="491947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>
                <a:solidFill>
                  <a:srgbClr val="475569"/>
                </a:solidFill>
              </a:rPr>
              <a:t>The provider loses continuity and revenue</a:t>
            </a:r>
            <a:endParaRPr lang="en-US" sz="1350"/>
          </a:p>
        </p:txBody>
      </p:sp>
      <p:sp>
        <p:nvSpPr>
          <p:cNvPr id="35" name="Text 33"/>
          <p:cNvSpPr/>
          <p:nvPr/>
        </p:nvSpPr>
        <p:spPr>
          <a:xfrm>
            <a:off x="11475720" y="6492240"/>
            <a:ext cx="320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/>
          </a:p>
        </p:txBody>
      </p:sp>
      <p:sp>
        <p:nvSpPr>
          <p:cNvPr id="36" name="Shape 0">
            <a:extLst>
              <a:ext uri="{FF2B5EF4-FFF2-40B4-BE49-F238E27FC236}">
                <a16:creationId xmlns:a16="http://schemas.microsoft.com/office/drawing/2014/main" id="{C2916946-EFC3-4245-4C49-32D05DCD2716}"/>
              </a:ext>
            </a:extLst>
          </p:cNvPr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chemeClr val="accent5"/>
          </a:solidFill>
          <a:ln w="12700">
            <a:solidFill>
              <a:srgbClr val="2B8C8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B8C85"/>
          </a:solidFill>
          <a:ln w="12700">
            <a:solidFill>
              <a:srgbClr val="2B8C8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13232" y="256032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>
                <a:solidFill>
                  <a:srgbClr val="2B8C85"/>
                </a:solidFill>
                <a:latin typeface="Arial"/>
                <a:ea typeface="Arial" pitchFamily="34" charset="-122"/>
                <a:cs typeface="Arial"/>
              </a:rPr>
              <a:t>Patient churn - bs</a:t>
            </a:r>
            <a:endParaRPr lang="en-US" sz="1000"/>
          </a:p>
        </p:txBody>
      </p:sp>
      <p:sp>
        <p:nvSpPr>
          <p:cNvPr id="4" name="Shape 2"/>
          <p:cNvSpPr/>
          <p:nvPr/>
        </p:nvSpPr>
        <p:spPr>
          <a:xfrm>
            <a:off x="8503920" y="374904"/>
            <a:ext cx="2304288" cy="0"/>
          </a:xfrm>
          <a:prstGeom prst="line">
            <a:avLst/>
          </a:prstGeom>
          <a:noFill/>
          <a:ln w="12700">
            <a:solidFill>
              <a:srgbClr val="E6EA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503920" y="292608"/>
            <a:ext cx="164592" cy="164592"/>
          </a:xfrm>
          <a:prstGeom prst="ellipse">
            <a:avLst/>
          </a:prstGeom>
          <a:solidFill>
            <a:srgbClr val="D95F5F"/>
          </a:solidFill>
          <a:ln w="12700">
            <a:solidFill>
              <a:srgbClr val="D95F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339328" y="475488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</a:t>
            </a:r>
            <a:endParaRPr lang="en-US" sz="750"/>
          </a:p>
        </p:txBody>
      </p:sp>
      <p:sp>
        <p:nvSpPr>
          <p:cNvPr id="7" name="Shape 5"/>
          <p:cNvSpPr/>
          <p:nvPr/>
        </p:nvSpPr>
        <p:spPr>
          <a:xfrm>
            <a:off x="9079992" y="29260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6EA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915400" y="475488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Signals</a:t>
            </a:r>
            <a:endParaRPr lang="en-US" sz="750"/>
          </a:p>
        </p:txBody>
      </p:sp>
      <p:sp>
        <p:nvSpPr>
          <p:cNvPr id="9" name="Shape 7"/>
          <p:cNvSpPr/>
          <p:nvPr/>
        </p:nvSpPr>
        <p:spPr>
          <a:xfrm>
            <a:off x="9656064" y="29260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6EA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491472" y="475488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Prediction</a:t>
            </a:r>
            <a:endParaRPr lang="en-US" sz="750"/>
          </a:p>
        </p:txBody>
      </p:sp>
      <p:sp>
        <p:nvSpPr>
          <p:cNvPr id="11" name="Shape 9"/>
          <p:cNvSpPr/>
          <p:nvPr/>
        </p:nvSpPr>
        <p:spPr>
          <a:xfrm>
            <a:off x="10232136" y="29260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6EA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0067544" y="475488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Timing</a:t>
            </a:r>
            <a:endParaRPr lang="en-US" sz="750"/>
          </a:p>
        </p:txBody>
      </p:sp>
      <p:sp>
        <p:nvSpPr>
          <p:cNvPr id="13" name="Shape 11"/>
          <p:cNvSpPr/>
          <p:nvPr/>
        </p:nvSpPr>
        <p:spPr>
          <a:xfrm>
            <a:off x="10808208" y="29260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6EA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0643616" y="475488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</a:t>
            </a:r>
            <a:endParaRPr lang="en-US" sz="750"/>
          </a:p>
        </p:txBody>
      </p:sp>
      <p:sp>
        <p:nvSpPr>
          <p:cNvPr id="15" name="Text 13"/>
          <p:cNvSpPr/>
          <p:nvPr/>
        </p:nvSpPr>
        <p:spPr>
          <a:xfrm>
            <a:off x="713232" y="621792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2,000 Patient Journeys</a:t>
            </a:r>
            <a:endParaRPr lang="en-US" sz="2500"/>
          </a:p>
        </p:txBody>
      </p:sp>
      <p:sp>
        <p:nvSpPr>
          <p:cNvPr id="16" name="Shape 14"/>
          <p:cNvSpPr/>
          <p:nvPr/>
        </p:nvSpPr>
        <p:spPr>
          <a:xfrm>
            <a:off x="713232" y="1170432"/>
            <a:ext cx="10789920" cy="0"/>
          </a:xfrm>
          <a:prstGeom prst="line">
            <a:avLst/>
          </a:prstGeom>
          <a:noFill/>
          <a:ln w="12700">
            <a:solidFill>
              <a:srgbClr val="E6EA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86384" y="1353312"/>
            <a:ext cx="5577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>
                <a:solidFill>
                  <a:srgbClr val="0F172A"/>
                </a:solidFill>
              </a:rPr>
              <a:t>We tracked 2,000 patients across visits, missed appointments, satisfaction, financial burden, access, and portal engagement - then measured how long they remained active before churn.</a:t>
            </a:r>
            <a:endParaRPr lang="en-US" sz="1800"/>
          </a:p>
        </p:txBody>
      </p:sp>
      <p:sp>
        <p:nvSpPr>
          <p:cNvPr id="18" name="Text 16"/>
          <p:cNvSpPr/>
          <p:nvPr/>
        </p:nvSpPr>
        <p:spPr>
          <a:xfrm>
            <a:off x="786384" y="2727012"/>
            <a:ext cx="485904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i="1">
                <a:solidFill>
                  <a:srgbClr val="2B8C85"/>
                </a:solidFill>
              </a:rPr>
              <a:t>Because churn is a timeline, not a moment.</a:t>
            </a:r>
            <a:endParaRPr lang="en-US" sz="1700"/>
          </a:p>
        </p:txBody>
      </p:sp>
      <p:sp>
        <p:nvSpPr>
          <p:cNvPr id="19" name="Shape 17"/>
          <p:cNvSpPr/>
          <p:nvPr/>
        </p:nvSpPr>
        <p:spPr>
          <a:xfrm>
            <a:off x="786384" y="3128556"/>
            <a:ext cx="2148840" cy="86868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6EA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50976" y="3238284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0F172A"/>
                </a:solidFill>
              </a:rPr>
              <a:t>21</a:t>
            </a:r>
            <a:endParaRPr lang="en-US" sz="2200"/>
          </a:p>
        </p:txBody>
      </p:sp>
      <p:sp>
        <p:nvSpPr>
          <p:cNvPr id="21" name="Text 19"/>
          <p:cNvSpPr/>
          <p:nvPr/>
        </p:nvSpPr>
        <p:spPr>
          <a:xfrm>
            <a:off x="950976" y="3540036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475569"/>
                </a:solidFill>
              </a:rPr>
              <a:t>variables</a:t>
            </a:r>
            <a:endParaRPr lang="en-US" sz="1250"/>
          </a:p>
        </p:txBody>
      </p:sp>
      <p:sp>
        <p:nvSpPr>
          <p:cNvPr id="22" name="Shape 20"/>
          <p:cNvSpPr/>
          <p:nvPr/>
        </p:nvSpPr>
        <p:spPr>
          <a:xfrm>
            <a:off x="3255264" y="3128556"/>
            <a:ext cx="2148840" cy="86868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6EA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419856" y="3238284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0F172A"/>
                </a:solidFill>
              </a:rPr>
              <a:t>0</a:t>
            </a:r>
            <a:endParaRPr lang="en-US" sz="2200"/>
          </a:p>
        </p:txBody>
      </p:sp>
      <p:sp>
        <p:nvSpPr>
          <p:cNvPr id="24" name="Text 22"/>
          <p:cNvSpPr/>
          <p:nvPr/>
        </p:nvSpPr>
        <p:spPr>
          <a:xfrm>
            <a:off x="3419856" y="3540036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475569"/>
                </a:solidFill>
              </a:rPr>
              <a:t>missing values</a:t>
            </a:r>
            <a:endParaRPr lang="en-US" sz="1250"/>
          </a:p>
        </p:txBody>
      </p:sp>
      <p:sp>
        <p:nvSpPr>
          <p:cNvPr id="25" name="Shape 23"/>
          <p:cNvSpPr/>
          <p:nvPr/>
        </p:nvSpPr>
        <p:spPr>
          <a:xfrm>
            <a:off x="786384" y="4271556"/>
            <a:ext cx="2148840" cy="86868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6EA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950976" y="4381284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0F172A"/>
                </a:solidFill>
              </a:rPr>
              <a:t>0</a:t>
            </a:r>
            <a:endParaRPr lang="en-US" sz="2200"/>
          </a:p>
        </p:txBody>
      </p:sp>
      <p:sp>
        <p:nvSpPr>
          <p:cNvPr id="27" name="Text 25"/>
          <p:cNvSpPr/>
          <p:nvPr/>
        </p:nvSpPr>
        <p:spPr>
          <a:xfrm>
            <a:off x="950976" y="4683036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475569"/>
                </a:solidFill>
              </a:rPr>
              <a:t>duplicate rows</a:t>
            </a:r>
            <a:endParaRPr lang="en-US" sz="1250"/>
          </a:p>
        </p:txBody>
      </p:sp>
      <p:sp>
        <p:nvSpPr>
          <p:cNvPr id="28" name="Shape 26"/>
          <p:cNvSpPr/>
          <p:nvPr/>
        </p:nvSpPr>
        <p:spPr>
          <a:xfrm>
            <a:off x="3255264" y="4271556"/>
            <a:ext cx="2148840" cy="868680"/>
          </a:xfrm>
          <a:prstGeom prst="roundRect">
            <a:avLst>
              <a:gd name="adj" fmla="val 4211"/>
            </a:avLst>
          </a:prstGeom>
          <a:solidFill>
            <a:srgbClr val="F2E9D8"/>
          </a:solidFill>
          <a:ln w="12700">
            <a:solidFill>
              <a:srgbClr val="E6EA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419856" y="4381284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0F172A"/>
                </a:solidFill>
              </a:rPr>
              <a:t>Tenure</a:t>
            </a:r>
            <a:endParaRPr lang="en-US" sz="2200"/>
          </a:p>
        </p:txBody>
      </p:sp>
      <p:sp>
        <p:nvSpPr>
          <p:cNvPr id="30" name="Text 28"/>
          <p:cNvSpPr/>
          <p:nvPr/>
        </p:nvSpPr>
        <p:spPr>
          <a:xfrm>
            <a:off x="3419856" y="4683036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475569"/>
                </a:solidFill>
              </a:rPr>
              <a:t>time variable</a:t>
            </a:r>
            <a:endParaRPr lang="en-US" sz="1250"/>
          </a:p>
        </p:txBody>
      </p:sp>
      <p:pic>
        <p:nvPicPr>
          <p:cNvPr id="31" name="Image 0" descr="/mnt/data/generated_charts/churn_dis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1468" y="1325880"/>
            <a:ext cx="4476505" cy="2651760"/>
          </a:xfrm>
          <a:prstGeom prst="rect">
            <a:avLst/>
          </a:prstGeom>
        </p:spPr>
      </p:pic>
      <p:sp>
        <p:nvSpPr>
          <p:cNvPr id="32" name="Text 29"/>
          <p:cNvSpPr/>
          <p:nvPr/>
        </p:nvSpPr>
        <p:spPr>
          <a:xfrm>
            <a:off x="7005099" y="428746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>
                <a:solidFill>
                  <a:srgbClr val="0F172A"/>
                </a:solidFill>
              </a:rPr>
              <a:t>The class balance is imbalanced: 68.35% churned and 31.65% retained.</a:t>
            </a:r>
            <a:endParaRPr lang="en-US" sz="1600"/>
          </a:p>
        </p:txBody>
      </p:sp>
      <p:sp>
        <p:nvSpPr>
          <p:cNvPr id="33" name="Text 30"/>
          <p:cNvSpPr/>
          <p:nvPr/>
        </p:nvSpPr>
        <p:spPr>
          <a:xfrm>
            <a:off x="6995159" y="4863928"/>
            <a:ext cx="450799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i="1">
                <a:solidFill>
                  <a:srgbClr val="475569"/>
                </a:solidFill>
                <a:latin typeface="Aptos Narrow" panose="020B0004020202020204" pitchFamily="34" charset="0"/>
              </a:rPr>
              <a:t>✓ </a:t>
            </a:r>
            <a:r>
              <a:rPr lang="en-US" sz="1500" i="1">
                <a:solidFill>
                  <a:srgbClr val="475569"/>
                </a:solidFill>
              </a:rPr>
              <a:t>recall, </a:t>
            </a:r>
            <a:r>
              <a:rPr lang="en-US" sz="1500" i="1">
                <a:solidFill>
                  <a:srgbClr val="475569"/>
                </a:solidFill>
                <a:latin typeface="Aptos Narrow" panose="020B0004020202020204" pitchFamily="34" charset="0"/>
              </a:rPr>
              <a:t>✓ </a:t>
            </a:r>
            <a:r>
              <a:rPr lang="en-US" sz="1500" i="1">
                <a:solidFill>
                  <a:srgbClr val="475569"/>
                </a:solidFill>
              </a:rPr>
              <a:t>sensitivity, and </a:t>
            </a:r>
            <a:r>
              <a:rPr lang="en-US" sz="1500" i="1">
                <a:solidFill>
                  <a:srgbClr val="475569"/>
                </a:solidFill>
                <a:latin typeface="Aptos Narrow" panose="020B0004020202020204" pitchFamily="34" charset="0"/>
              </a:rPr>
              <a:t>✓  </a:t>
            </a:r>
            <a:r>
              <a:rPr lang="en-US" sz="1500" i="1">
                <a:solidFill>
                  <a:srgbClr val="475569"/>
                </a:solidFill>
              </a:rPr>
              <a:t>threshold choice matter</a:t>
            </a:r>
            <a:endParaRPr lang="en-US" sz="1500"/>
          </a:p>
        </p:txBody>
      </p:sp>
      <p:sp>
        <p:nvSpPr>
          <p:cNvPr id="34" name="Text 31"/>
          <p:cNvSpPr/>
          <p:nvPr/>
        </p:nvSpPr>
        <p:spPr>
          <a:xfrm>
            <a:off x="11475720" y="6492240"/>
            <a:ext cx="320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1F70995-4B8A-521D-402A-7D993E765817}"/>
              </a:ext>
            </a:extLst>
          </p:cNvPr>
          <p:cNvSpPr txBox="1"/>
          <p:nvPr/>
        </p:nvSpPr>
        <p:spPr>
          <a:xfrm>
            <a:off x="838367" y="5604896"/>
            <a:ext cx="1167981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100" b="1"/>
              <a:t>Demographics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/>
              <a:t>Age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/>
              <a:t>Gender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/>
              <a:t>State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2124598-6980-5696-971A-F97AB18C67F3}"/>
              </a:ext>
            </a:extLst>
          </p:cNvPr>
          <p:cNvSpPr txBox="1"/>
          <p:nvPr/>
        </p:nvSpPr>
        <p:spPr>
          <a:xfrm>
            <a:off x="2006348" y="5594180"/>
            <a:ext cx="1726658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100" b="1"/>
              <a:t>Engagement behavior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 err="1"/>
              <a:t>Visits_Last_Year</a:t>
            </a:r>
            <a:r>
              <a:rPr lang="en-US" sz="110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 err="1"/>
              <a:t>Missed_Appointments</a:t>
            </a:r>
            <a:r>
              <a:rPr lang="en-US" sz="110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 err="1"/>
              <a:t>Days_Since_Last_Visit</a:t>
            </a:r>
            <a:r>
              <a:rPr lang="en-US" sz="110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 err="1"/>
              <a:t>Portal_Usage</a:t>
            </a:r>
            <a:r>
              <a:rPr lang="en-US" sz="110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 err="1"/>
              <a:t>Referrals_Made</a:t>
            </a:r>
            <a:endParaRPr lang="en-US" sz="110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078DA26-A9DA-53AC-72C1-4C8A1CA72DCD}"/>
              </a:ext>
            </a:extLst>
          </p:cNvPr>
          <p:cNvSpPr txBox="1"/>
          <p:nvPr/>
        </p:nvSpPr>
        <p:spPr>
          <a:xfrm>
            <a:off x="3686910" y="5573732"/>
            <a:ext cx="1835063" cy="93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100" b="1"/>
              <a:t>Satisfaction / experience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 err="1"/>
              <a:t>Overall_Satisfaction</a:t>
            </a:r>
            <a:r>
              <a:rPr lang="en-US" sz="110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 err="1"/>
              <a:t>Wait_Time_Satisfaction</a:t>
            </a:r>
            <a:r>
              <a:rPr lang="en-US" sz="110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 err="1"/>
              <a:t>Staff_Satisfaction</a:t>
            </a:r>
            <a:r>
              <a:rPr lang="en-US" sz="110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 err="1"/>
              <a:t>Provider_Rating</a:t>
            </a:r>
            <a:endParaRPr lang="en-US" sz="110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463AC98-724C-6A3C-E303-6AAFD813D2D1}"/>
              </a:ext>
            </a:extLst>
          </p:cNvPr>
          <p:cNvSpPr txBox="1"/>
          <p:nvPr/>
        </p:nvSpPr>
        <p:spPr>
          <a:xfrm>
            <a:off x="5521973" y="5566975"/>
            <a:ext cx="210712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100" b="1"/>
              <a:t>Access &amp; financial friction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 err="1"/>
              <a:t>Avg_Out_Of_Pocket_Cost</a:t>
            </a:r>
            <a:r>
              <a:rPr lang="en-US" sz="110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 err="1"/>
              <a:t>Distance_To_Facility_Miles</a:t>
            </a:r>
            <a:r>
              <a:rPr lang="en-US" sz="110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 err="1"/>
              <a:t>Billing_Issues</a:t>
            </a:r>
            <a:endParaRPr lang="en-US" sz="110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C3EDA26-F00B-4589-EBFF-0CA279DFCB71}"/>
              </a:ext>
            </a:extLst>
          </p:cNvPr>
          <p:cNvSpPr txBox="1"/>
          <p:nvPr/>
        </p:nvSpPr>
        <p:spPr>
          <a:xfrm>
            <a:off x="7629101" y="5549863"/>
            <a:ext cx="1737360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100" b="1"/>
              <a:t>Time dimension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 err="1"/>
              <a:t>Tenure_Months</a:t>
            </a:r>
            <a:r>
              <a:rPr lang="en-US" sz="110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 err="1"/>
              <a:t>Last_Interaction_Date</a:t>
            </a:r>
            <a:endParaRPr lang="en-US" sz="110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1C4E7F6-0EC0-D42D-476B-4CDD06F87536}"/>
              </a:ext>
            </a:extLst>
          </p:cNvPr>
          <p:cNvSpPr txBox="1"/>
          <p:nvPr/>
        </p:nvSpPr>
        <p:spPr>
          <a:xfrm>
            <a:off x="7629101" y="6275497"/>
            <a:ext cx="118561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100" b="1"/>
              <a:t>Target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>
                <a:solidFill>
                  <a:schemeClr val="accent2">
                    <a:lumMod val="50000"/>
                  </a:schemeClr>
                </a:solidFill>
              </a:rPr>
              <a:t>Churned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B8C85"/>
          </a:solidFill>
          <a:ln w="12700">
            <a:solidFill>
              <a:srgbClr val="2B8C8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13232" y="256032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>
                <a:solidFill>
                  <a:srgbClr val="2B8C85"/>
                </a:solidFill>
                <a:latin typeface="Arial"/>
                <a:ea typeface="Arial" pitchFamily="34" charset="-122"/>
                <a:cs typeface="Arial"/>
              </a:rPr>
              <a:t>Patient churn - bs</a:t>
            </a:r>
            <a:endParaRPr lang="en-US" sz="1000"/>
          </a:p>
        </p:txBody>
      </p:sp>
      <p:sp>
        <p:nvSpPr>
          <p:cNvPr id="4" name="Shape 2"/>
          <p:cNvSpPr/>
          <p:nvPr/>
        </p:nvSpPr>
        <p:spPr>
          <a:xfrm>
            <a:off x="8503920" y="374904"/>
            <a:ext cx="2304288" cy="0"/>
          </a:xfrm>
          <a:prstGeom prst="line">
            <a:avLst/>
          </a:prstGeom>
          <a:noFill/>
          <a:ln w="12700">
            <a:solidFill>
              <a:srgbClr val="E6EA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503920" y="292608"/>
            <a:ext cx="164592" cy="164592"/>
          </a:xfrm>
          <a:prstGeom prst="ellipse">
            <a:avLst/>
          </a:prstGeom>
          <a:solidFill>
            <a:srgbClr val="2B8C85"/>
          </a:solidFill>
          <a:ln w="12700">
            <a:solidFill>
              <a:srgbClr val="2B8C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339328" y="475488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</a:t>
            </a:r>
            <a:endParaRPr lang="en-US" sz="750"/>
          </a:p>
        </p:txBody>
      </p:sp>
      <p:sp>
        <p:nvSpPr>
          <p:cNvPr id="7" name="Shape 5"/>
          <p:cNvSpPr/>
          <p:nvPr/>
        </p:nvSpPr>
        <p:spPr>
          <a:xfrm>
            <a:off x="9079992" y="292608"/>
            <a:ext cx="164592" cy="164592"/>
          </a:xfrm>
          <a:prstGeom prst="ellipse">
            <a:avLst/>
          </a:prstGeom>
          <a:solidFill>
            <a:srgbClr val="D95F5F"/>
          </a:solidFill>
          <a:ln w="12700">
            <a:solidFill>
              <a:srgbClr val="D95F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915400" y="475488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Signals</a:t>
            </a:r>
            <a:endParaRPr lang="en-US" sz="750"/>
          </a:p>
        </p:txBody>
      </p:sp>
      <p:sp>
        <p:nvSpPr>
          <p:cNvPr id="9" name="Shape 7"/>
          <p:cNvSpPr/>
          <p:nvPr/>
        </p:nvSpPr>
        <p:spPr>
          <a:xfrm>
            <a:off x="9656064" y="29260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6EA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491472" y="475488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Prediction</a:t>
            </a:r>
            <a:endParaRPr lang="en-US" sz="750"/>
          </a:p>
        </p:txBody>
      </p:sp>
      <p:sp>
        <p:nvSpPr>
          <p:cNvPr id="11" name="Shape 9"/>
          <p:cNvSpPr/>
          <p:nvPr/>
        </p:nvSpPr>
        <p:spPr>
          <a:xfrm>
            <a:off x="10232136" y="29260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6EA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0067544" y="475488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Timing</a:t>
            </a:r>
            <a:endParaRPr lang="en-US" sz="750"/>
          </a:p>
        </p:txBody>
      </p:sp>
      <p:sp>
        <p:nvSpPr>
          <p:cNvPr id="13" name="Shape 11"/>
          <p:cNvSpPr/>
          <p:nvPr/>
        </p:nvSpPr>
        <p:spPr>
          <a:xfrm>
            <a:off x="10808208" y="29260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6EA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0643616" y="475488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</a:t>
            </a:r>
            <a:endParaRPr lang="en-US" sz="750"/>
          </a:p>
        </p:txBody>
      </p:sp>
      <p:sp>
        <p:nvSpPr>
          <p:cNvPr id="15" name="Text 13"/>
          <p:cNvSpPr/>
          <p:nvPr/>
        </p:nvSpPr>
        <p:spPr>
          <a:xfrm>
            <a:off x="713232" y="621792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Early Warning Signals</a:t>
            </a:r>
            <a:endParaRPr lang="en-US" sz="2500"/>
          </a:p>
        </p:txBody>
      </p:sp>
      <p:sp>
        <p:nvSpPr>
          <p:cNvPr id="16" name="Shape 14"/>
          <p:cNvSpPr/>
          <p:nvPr/>
        </p:nvSpPr>
        <p:spPr>
          <a:xfrm>
            <a:off x="713232" y="1170432"/>
            <a:ext cx="10789920" cy="0"/>
          </a:xfrm>
          <a:prstGeom prst="line">
            <a:avLst/>
          </a:prstGeom>
          <a:noFill/>
          <a:ln w="12700">
            <a:solidFill>
              <a:srgbClr val="E6EA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0" descr="/mnt/data/crops/numeric_boxplots.png"/>
          <p:cNvPicPr>
            <a:picLocks noChangeAspect="1"/>
          </p:cNvPicPr>
          <p:nvPr/>
        </p:nvPicPr>
        <p:blipFill>
          <a:blip r:embed="rId3"/>
          <a:srcRect t="8687" r="2133" b="3636"/>
          <a:stretch>
            <a:fillRect/>
          </a:stretch>
        </p:blipFill>
        <p:spPr>
          <a:xfrm>
            <a:off x="548429" y="1298449"/>
            <a:ext cx="6271012" cy="438912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7635240" y="141732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0F172A"/>
                </a:solidFill>
              </a:rPr>
              <a:t>Clear differences appear in satisfaction, recency, cost, and access.</a:t>
            </a:r>
            <a:endParaRPr lang="en-US" sz="1800"/>
          </a:p>
        </p:txBody>
      </p:sp>
      <p:sp>
        <p:nvSpPr>
          <p:cNvPr id="19" name="Text 16"/>
          <p:cNvSpPr/>
          <p:nvPr/>
        </p:nvSpPr>
        <p:spPr>
          <a:xfrm>
            <a:off x="7635240" y="1920240"/>
            <a:ext cx="3840480" cy="2514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600">
                <a:solidFill>
                  <a:srgbClr val="475569"/>
                </a:solidFill>
              </a:rPr>
              <a:t>• Churned patients report lower overall and wait-time satisfaction.</a:t>
            </a:r>
            <a:endParaRPr lang="en-US" sz="1600"/>
          </a:p>
          <a:p>
            <a:pPr marL="0" indent="0">
              <a:buNone/>
            </a:pPr>
            <a:endParaRPr lang="en-US" sz="1600"/>
          </a:p>
          <a:p>
            <a:pPr marL="0" indent="0">
              <a:buNone/>
            </a:pPr>
            <a:r>
              <a:rPr lang="en-US" sz="1600">
                <a:solidFill>
                  <a:srgbClr val="475569"/>
                </a:solidFill>
              </a:rPr>
              <a:t>• They have gone longer since their last visit and miss slightly more appointments.</a:t>
            </a:r>
            <a:endParaRPr lang="en-US" sz="1600"/>
          </a:p>
          <a:p>
            <a:pPr marL="0" indent="0">
              <a:buNone/>
            </a:pPr>
            <a:endParaRPr lang="en-US" sz="1600"/>
          </a:p>
          <a:p>
            <a:pPr marL="0" indent="0">
              <a:buNone/>
            </a:pPr>
            <a:r>
              <a:rPr lang="en-US" sz="1600">
                <a:solidFill>
                  <a:srgbClr val="475569"/>
                </a:solidFill>
              </a:rPr>
              <a:t>• They also face higher out-of-pocket cost and live a little farther from the facility.</a:t>
            </a:r>
            <a:endParaRPr lang="en-US" sz="1600"/>
          </a:p>
        </p:txBody>
      </p:sp>
      <p:sp>
        <p:nvSpPr>
          <p:cNvPr id="20" name="Shape 17"/>
          <p:cNvSpPr/>
          <p:nvPr/>
        </p:nvSpPr>
        <p:spPr>
          <a:xfrm>
            <a:off x="7589520" y="4736592"/>
            <a:ext cx="3886200" cy="841248"/>
          </a:xfrm>
          <a:prstGeom prst="roundRect">
            <a:avLst>
              <a:gd name="adj" fmla="val 4348"/>
            </a:avLst>
          </a:prstGeom>
          <a:solidFill>
            <a:srgbClr val="DCEFEB"/>
          </a:solidFill>
          <a:ln w="12700">
            <a:solidFill>
              <a:srgbClr val="DCEF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7790688" y="4956048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>
                <a:solidFill>
                  <a:srgbClr val="0F172A"/>
                </a:solidFill>
              </a:rPr>
              <a:t>No single variable dominates.</a:t>
            </a:r>
            <a:endParaRPr lang="en-US" sz="1450"/>
          </a:p>
          <a:p>
            <a:pPr marL="0" indent="0">
              <a:buNone/>
            </a:pPr>
            <a:r>
              <a:rPr lang="en-US" sz="1450" b="1">
                <a:solidFill>
                  <a:srgbClr val="0F172A"/>
                </a:solidFill>
              </a:rPr>
              <a:t>Disengagement seems to build through experience, behavior, and access together.</a:t>
            </a:r>
            <a:endParaRPr lang="en-US" sz="1450"/>
          </a:p>
        </p:txBody>
      </p:sp>
      <p:sp>
        <p:nvSpPr>
          <p:cNvPr id="22" name="Text 19"/>
          <p:cNvSpPr/>
          <p:nvPr/>
        </p:nvSpPr>
        <p:spPr>
          <a:xfrm>
            <a:off x="11475720" y="6492240"/>
            <a:ext cx="320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/>
          </a:p>
        </p:txBody>
      </p:sp>
      <p:sp>
        <p:nvSpPr>
          <p:cNvPr id="23" name="Star: 4 Points 22">
            <a:extLst>
              <a:ext uri="{FF2B5EF4-FFF2-40B4-BE49-F238E27FC236}">
                <a16:creationId xmlns:a16="http://schemas.microsoft.com/office/drawing/2014/main" id="{CEF835FD-9103-8370-FB71-2438A2DBD44C}"/>
              </a:ext>
            </a:extLst>
          </p:cNvPr>
          <p:cNvSpPr/>
          <p:nvPr/>
        </p:nvSpPr>
        <p:spPr>
          <a:xfrm>
            <a:off x="6617642" y="3148759"/>
            <a:ext cx="125261" cy="137785"/>
          </a:xfrm>
          <a:prstGeom prst="star4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Star: 4 Points 23">
            <a:extLst>
              <a:ext uri="{FF2B5EF4-FFF2-40B4-BE49-F238E27FC236}">
                <a16:creationId xmlns:a16="http://schemas.microsoft.com/office/drawing/2014/main" id="{15D5698D-4E76-1D10-CFCB-5E3C45B465B8}"/>
              </a:ext>
            </a:extLst>
          </p:cNvPr>
          <p:cNvSpPr/>
          <p:nvPr/>
        </p:nvSpPr>
        <p:spPr>
          <a:xfrm>
            <a:off x="4681465" y="4667699"/>
            <a:ext cx="125261" cy="137785"/>
          </a:xfrm>
          <a:prstGeom prst="star4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Star: 4 Points 24">
            <a:extLst>
              <a:ext uri="{FF2B5EF4-FFF2-40B4-BE49-F238E27FC236}">
                <a16:creationId xmlns:a16="http://schemas.microsoft.com/office/drawing/2014/main" id="{0BCC41F3-5BF4-E039-DAB4-0E5BD92BBF46}"/>
              </a:ext>
            </a:extLst>
          </p:cNvPr>
          <p:cNvSpPr/>
          <p:nvPr/>
        </p:nvSpPr>
        <p:spPr>
          <a:xfrm>
            <a:off x="2444268" y="4887155"/>
            <a:ext cx="125261" cy="137785"/>
          </a:xfrm>
          <a:prstGeom prst="star4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Star: 4 Points 25">
            <a:extLst>
              <a:ext uri="{FF2B5EF4-FFF2-40B4-BE49-F238E27FC236}">
                <a16:creationId xmlns:a16="http://schemas.microsoft.com/office/drawing/2014/main" id="{7CD9873B-51A7-87F6-BACC-25345D0BFAFF}"/>
              </a:ext>
            </a:extLst>
          </p:cNvPr>
          <p:cNvSpPr/>
          <p:nvPr/>
        </p:nvSpPr>
        <p:spPr>
          <a:xfrm>
            <a:off x="2551724" y="3148759"/>
            <a:ext cx="125261" cy="137785"/>
          </a:xfrm>
          <a:prstGeom prst="star4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Star: 4 Points 26">
            <a:extLst>
              <a:ext uri="{FF2B5EF4-FFF2-40B4-BE49-F238E27FC236}">
                <a16:creationId xmlns:a16="http://schemas.microsoft.com/office/drawing/2014/main" id="{722BFC16-60C2-896D-16D5-DE61FC7BA23F}"/>
              </a:ext>
            </a:extLst>
          </p:cNvPr>
          <p:cNvSpPr/>
          <p:nvPr/>
        </p:nvSpPr>
        <p:spPr>
          <a:xfrm>
            <a:off x="4380525" y="2455770"/>
            <a:ext cx="125261" cy="137785"/>
          </a:xfrm>
          <a:prstGeom prst="star4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713232" y="256032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>
                <a:solidFill>
                  <a:srgbClr val="2B8C85"/>
                </a:solidFill>
                <a:latin typeface="Arial"/>
                <a:ea typeface="Arial" pitchFamily="34" charset="-122"/>
                <a:cs typeface="Arial"/>
              </a:rPr>
              <a:t>Patient churn - </a:t>
            </a:r>
            <a:r>
              <a:rPr lang="en-US" sz="1000" b="1" err="1">
                <a:solidFill>
                  <a:srgbClr val="2B8C85"/>
                </a:solidFill>
                <a:latin typeface="Arial"/>
                <a:ea typeface="Arial" pitchFamily="34" charset="-122"/>
                <a:cs typeface="Arial"/>
              </a:rPr>
              <a:t>sdi</a:t>
            </a:r>
            <a:endParaRPr lang="en-US" sz="1000" err="1"/>
          </a:p>
        </p:txBody>
      </p:sp>
      <p:sp>
        <p:nvSpPr>
          <p:cNvPr id="4" name="Shape 2"/>
          <p:cNvSpPr/>
          <p:nvPr/>
        </p:nvSpPr>
        <p:spPr>
          <a:xfrm>
            <a:off x="8503920" y="374904"/>
            <a:ext cx="2304288" cy="0"/>
          </a:xfrm>
          <a:prstGeom prst="line">
            <a:avLst/>
          </a:prstGeom>
          <a:noFill/>
          <a:ln w="12700">
            <a:solidFill>
              <a:srgbClr val="E6EA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503920" y="292608"/>
            <a:ext cx="164592" cy="164592"/>
          </a:xfrm>
          <a:prstGeom prst="ellipse">
            <a:avLst/>
          </a:prstGeom>
          <a:solidFill>
            <a:srgbClr val="2B8C85"/>
          </a:solidFill>
          <a:ln w="12700">
            <a:solidFill>
              <a:srgbClr val="2B8C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339328" y="475488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</a:t>
            </a:r>
            <a:endParaRPr lang="en-US" sz="750"/>
          </a:p>
        </p:txBody>
      </p:sp>
      <p:sp>
        <p:nvSpPr>
          <p:cNvPr id="7" name="Shape 5"/>
          <p:cNvSpPr/>
          <p:nvPr/>
        </p:nvSpPr>
        <p:spPr>
          <a:xfrm>
            <a:off x="9079992" y="292608"/>
            <a:ext cx="164592" cy="164592"/>
          </a:xfrm>
          <a:prstGeom prst="ellipse">
            <a:avLst/>
          </a:prstGeom>
          <a:solidFill>
            <a:srgbClr val="D95F5F"/>
          </a:solidFill>
          <a:ln w="12700">
            <a:solidFill>
              <a:srgbClr val="D95F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915400" y="475488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Signals</a:t>
            </a:r>
            <a:endParaRPr lang="en-US" sz="750"/>
          </a:p>
        </p:txBody>
      </p:sp>
      <p:sp>
        <p:nvSpPr>
          <p:cNvPr id="9" name="Shape 7"/>
          <p:cNvSpPr/>
          <p:nvPr/>
        </p:nvSpPr>
        <p:spPr>
          <a:xfrm>
            <a:off x="9656064" y="29260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6EA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491472" y="475488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Prediction</a:t>
            </a:r>
            <a:endParaRPr lang="en-US" sz="750"/>
          </a:p>
        </p:txBody>
      </p:sp>
      <p:sp>
        <p:nvSpPr>
          <p:cNvPr id="11" name="Shape 9"/>
          <p:cNvSpPr/>
          <p:nvPr/>
        </p:nvSpPr>
        <p:spPr>
          <a:xfrm>
            <a:off x="10232136" y="29260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6EA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0067544" y="475488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Timing</a:t>
            </a:r>
            <a:endParaRPr lang="en-US" sz="750"/>
          </a:p>
        </p:txBody>
      </p:sp>
      <p:sp>
        <p:nvSpPr>
          <p:cNvPr id="13" name="Shape 11"/>
          <p:cNvSpPr/>
          <p:nvPr/>
        </p:nvSpPr>
        <p:spPr>
          <a:xfrm>
            <a:off x="10808208" y="29260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6EA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0643616" y="475488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</a:t>
            </a:r>
            <a:endParaRPr lang="en-US" sz="750"/>
          </a:p>
        </p:txBody>
      </p:sp>
      <p:sp>
        <p:nvSpPr>
          <p:cNvPr id="15" name="Text 13"/>
          <p:cNvSpPr/>
          <p:nvPr/>
        </p:nvSpPr>
        <p:spPr>
          <a:xfrm>
            <a:off x="713232" y="621792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 Matters, but Insurance Alone Does Not</a:t>
            </a:r>
            <a:endParaRPr lang="en-US" sz="2500"/>
          </a:p>
        </p:txBody>
      </p:sp>
      <p:sp>
        <p:nvSpPr>
          <p:cNvPr id="16" name="Shape 14"/>
          <p:cNvSpPr/>
          <p:nvPr/>
        </p:nvSpPr>
        <p:spPr>
          <a:xfrm>
            <a:off x="713232" y="1170432"/>
            <a:ext cx="10789920" cy="0"/>
          </a:xfrm>
          <a:prstGeom prst="line">
            <a:avLst/>
          </a:prstGeom>
          <a:noFill/>
          <a:ln w="12700">
            <a:solidFill>
              <a:srgbClr val="E6EA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6903720" y="1508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>
                <a:solidFill>
                  <a:srgbClr val="0F172A"/>
                </a:solidFill>
              </a:rPr>
              <a:t>Churn stays high across every insurance type.</a:t>
            </a:r>
            <a:endParaRPr lang="en-US" sz="1900"/>
          </a:p>
        </p:txBody>
      </p:sp>
      <p:sp>
        <p:nvSpPr>
          <p:cNvPr id="19" name="Text 16"/>
          <p:cNvSpPr/>
          <p:nvPr/>
        </p:nvSpPr>
        <p:spPr>
          <a:xfrm>
            <a:off x="6903720" y="1993392"/>
            <a:ext cx="3657600" cy="11430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475569"/>
                </a:solidFill>
              </a:rPr>
              <a:t>Medicaid is highest at 70.5%.</a:t>
            </a:r>
            <a:endParaRPr lang="en-US" sz="1400"/>
          </a:p>
          <a:p>
            <a:pPr marL="0" indent="0">
              <a:buNone/>
            </a:pPr>
            <a:r>
              <a:rPr lang="en-US" sz="1400">
                <a:solidFill>
                  <a:srgbClr val="475569"/>
                </a:solidFill>
              </a:rPr>
              <a:t>Medicare is lowest at 66.7%.</a:t>
            </a:r>
            <a:endParaRPr lang="en-US" sz="1400"/>
          </a:p>
          <a:p>
            <a:pPr marL="0" indent="0">
              <a:buNone/>
            </a:pPr>
            <a:r>
              <a:rPr lang="en-US" sz="1400">
                <a:solidFill>
                  <a:srgbClr val="475569"/>
                </a:solidFill>
              </a:rPr>
              <a:t>The spread is only 3.8 percentage points.</a:t>
            </a:r>
            <a:endParaRPr lang="en-US" sz="1400"/>
          </a:p>
        </p:txBody>
      </p:sp>
      <p:sp>
        <p:nvSpPr>
          <p:cNvPr id="20" name="Shape 17"/>
          <p:cNvSpPr/>
          <p:nvPr/>
        </p:nvSpPr>
        <p:spPr>
          <a:xfrm>
            <a:off x="6903720" y="3721721"/>
            <a:ext cx="3767328" cy="493552"/>
          </a:xfrm>
          <a:prstGeom prst="roundRect">
            <a:avLst>
              <a:gd name="adj" fmla="val 5882"/>
            </a:avLst>
          </a:prstGeom>
          <a:solidFill>
            <a:srgbClr val="FCE5E1"/>
          </a:solidFill>
          <a:ln w="12700">
            <a:solidFill>
              <a:srgbClr val="FCE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7013448" y="3867911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>
                <a:solidFill>
                  <a:srgbClr val="D95F5F"/>
                </a:solidFill>
              </a:rPr>
              <a:t>Interpretation</a:t>
            </a:r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6940296" y="4562634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>
                <a:solidFill>
                  <a:srgbClr val="0F172A"/>
                </a:solidFill>
              </a:rPr>
              <a:t>Insurance looks like a weak differentiator. System-wide experience and engagement factors appear stronger.</a:t>
            </a:r>
            <a:endParaRPr lang="en-US" sz="1500"/>
          </a:p>
        </p:txBody>
      </p:sp>
      <p:sp>
        <p:nvSpPr>
          <p:cNvPr id="23" name="Text 20"/>
          <p:cNvSpPr/>
          <p:nvPr/>
        </p:nvSpPr>
        <p:spPr>
          <a:xfrm>
            <a:off x="6927627" y="5348799"/>
            <a:ext cx="3886200" cy="8051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>
                <a:solidFill>
                  <a:srgbClr val="475569"/>
                </a:solidFill>
              </a:rPr>
              <a:t>Chi-square tests in the supporting analysis showed categorical variables were not significant on their own.</a:t>
            </a:r>
            <a:endParaRPr lang="en-US" sz="1550"/>
          </a:p>
        </p:txBody>
      </p:sp>
      <p:sp>
        <p:nvSpPr>
          <p:cNvPr id="24" name="Text 21"/>
          <p:cNvSpPr/>
          <p:nvPr/>
        </p:nvSpPr>
        <p:spPr>
          <a:xfrm>
            <a:off x="11475720" y="6492240"/>
            <a:ext cx="320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7FAFBA01-86F5-4BBB-21AF-3B4CA8817E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9446" y="1170432"/>
            <a:ext cx="3767329" cy="2565254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1D27FE39-D92F-BC09-86F4-5282093923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2537" y="4169121"/>
            <a:ext cx="1390497" cy="2396271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2B3C4575-78C7-AC4B-79BD-DDCA790E63E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75994" y="3867776"/>
            <a:ext cx="1800237" cy="2826431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56903B64-F46A-796C-237B-FD8BB4C8D48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82449" y="3867856"/>
            <a:ext cx="1780031" cy="2837114"/>
          </a:xfrm>
          <a:prstGeom prst="rect">
            <a:avLst/>
          </a:prstGeom>
        </p:spPr>
      </p:pic>
      <p:sp>
        <p:nvSpPr>
          <p:cNvPr id="17" name="Shape 0">
            <a:extLst>
              <a:ext uri="{FF2B5EF4-FFF2-40B4-BE49-F238E27FC236}">
                <a16:creationId xmlns:a16="http://schemas.microsoft.com/office/drawing/2014/main" id="{6590C435-4936-C7C5-6156-85558FD4BD77}"/>
              </a:ext>
            </a:extLst>
          </p:cNvPr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chemeClr val="accent5"/>
          </a:solidFill>
          <a:ln w="12700">
            <a:solidFill>
              <a:srgbClr val="2B8C8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713232" y="256032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>
                <a:solidFill>
                  <a:srgbClr val="2B8C85"/>
                </a:solidFill>
                <a:latin typeface="Arial"/>
                <a:ea typeface="Arial" pitchFamily="34" charset="-122"/>
                <a:cs typeface="Arial"/>
              </a:rPr>
              <a:t>Patient churn - </a:t>
            </a:r>
            <a:r>
              <a:rPr lang="en-US" sz="1000" b="1" err="1">
                <a:solidFill>
                  <a:srgbClr val="2B8C85"/>
                </a:solidFill>
                <a:latin typeface="Arial"/>
                <a:ea typeface="Arial" pitchFamily="34" charset="-122"/>
                <a:cs typeface="Arial"/>
              </a:rPr>
              <a:t>sdi</a:t>
            </a:r>
            <a:endParaRPr lang="en-US" sz="1000" err="1"/>
          </a:p>
        </p:txBody>
      </p:sp>
      <p:sp>
        <p:nvSpPr>
          <p:cNvPr id="4" name="Shape 2"/>
          <p:cNvSpPr/>
          <p:nvPr/>
        </p:nvSpPr>
        <p:spPr>
          <a:xfrm>
            <a:off x="8503920" y="374904"/>
            <a:ext cx="2304288" cy="0"/>
          </a:xfrm>
          <a:prstGeom prst="line">
            <a:avLst/>
          </a:prstGeom>
          <a:noFill/>
          <a:ln w="12700">
            <a:solidFill>
              <a:srgbClr val="E6EA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503920" y="292608"/>
            <a:ext cx="164592" cy="164592"/>
          </a:xfrm>
          <a:prstGeom prst="ellipse">
            <a:avLst/>
          </a:prstGeom>
          <a:solidFill>
            <a:srgbClr val="2B8C85"/>
          </a:solidFill>
          <a:ln w="12700">
            <a:solidFill>
              <a:srgbClr val="2B8C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339328" y="475488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</a:t>
            </a:r>
            <a:endParaRPr lang="en-US" sz="750"/>
          </a:p>
        </p:txBody>
      </p:sp>
      <p:sp>
        <p:nvSpPr>
          <p:cNvPr id="7" name="Shape 5"/>
          <p:cNvSpPr/>
          <p:nvPr/>
        </p:nvSpPr>
        <p:spPr>
          <a:xfrm>
            <a:off x="9079992" y="292608"/>
            <a:ext cx="164592" cy="164592"/>
          </a:xfrm>
          <a:prstGeom prst="ellipse">
            <a:avLst/>
          </a:prstGeom>
          <a:solidFill>
            <a:srgbClr val="D95F5F"/>
          </a:solidFill>
          <a:ln w="12700">
            <a:solidFill>
              <a:srgbClr val="D95F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915400" y="475488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Signals</a:t>
            </a:r>
            <a:endParaRPr lang="en-US" sz="750"/>
          </a:p>
        </p:txBody>
      </p:sp>
      <p:sp>
        <p:nvSpPr>
          <p:cNvPr id="9" name="Shape 7"/>
          <p:cNvSpPr/>
          <p:nvPr/>
        </p:nvSpPr>
        <p:spPr>
          <a:xfrm>
            <a:off x="9656064" y="29260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6EA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491472" y="475488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Prediction</a:t>
            </a:r>
            <a:endParaRPr lang="en-US" sz="750"/>
          </a:p>
        </p:txBody>
      </p:sp>
      <p:sp>
        <p:nvSpPr>
          <p:cNvPr id="11" name="Shape 9"/>
          <p:cNvSpPr/>
          <p:nvPr/>
        </p:nvSpPr>
        <p:spPr>
          <a:xfrm>
            <a:off x="10232136" y="29260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6EA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0067544" y="475488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Timing</a:t>
            </a:r>
            <a:endParaRPr lang="en-US" sz="750"/>
          </a:p>
        </p:txBody>
      </p:sp>
      <p:sp>
        <p:nvSpPr>
          <p:cNvPr id="13" name="Shape 11"/>
          <p:cNvSpPr/>
          <p:nvPr/>
        </p:nvSpPr>
        <p:spPr>
          <a:xfrm>
            <a:off x="10808208" y="29260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6EA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0643616" y="475488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</a:t>
            </a:r>
            <a:endParaRPr lang="en-US" sz="750"/>
          </a:p>
        </p:txBody>
      </p:sp>
      <p:sp>
        <p:nvSpPr>
          <p:cNvPr id="15" name="Text 13"/>
          <p:cNvSpPr/>
          <p:nvPr/>
        </p:nvSpPr>
        <p:spPr>
          <a:xfrm>
            <a:off x="713232" y="621792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Signals Matter Most?</a:t>
            </a:r>
            <a:endParaRPr lang="en-US" sz="2500"/>
          </a:p>
        </p:txBody>
      </p:sp>
      <p:sp>
        <p:nvSpPr>
          <p:cNvPr id="16" name="Shape 14"/>
          <p:cNvSpPr/>
          <p:nvPr/>
        </p:nvSpPr>
        <p:spPr>
          <a:xfrm>
            <a:off x="713232" y="1170432"/>
            <a:ext cx="10789920" cy="0"/>
          </a:xfrm>
          <a:prstGeom prst="line">
            <a:avLst/>
          </a:prstGeom>
          <a:noFill/>
          <a:ln w="12700">
            <a:solidFill>
              <a:srgbClr val="E6EA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6812280" y="1340193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>
                <a:solidFill>
                  <a:srgbClr val="0F172A"/>
                </a:solidFill>
              </a:rPr>
              <a:t>Top statistical differences between retained and churned patients</a:t>
            </a:r>
            <a:endParaRPr lang="en-US" sz="1750"/>
          </a:p>
        </p:txBody>
      </p:sp>
      <p:sp>
        <p:nvSpPr>
          <p:cNvPr id="19" name="Shape 16"/>
          <p:cNvSpPr/>
          <p:nvPr/>
        </p:nvSpPr>
        <p:spPr>
          <a:xfrm>
            <a:off x="6812280" y="1821180"/>
            <a:ext cx="2103120" cy="384048"/>
          </a:xfrm>
          <a:prstGeom prst="rect">
            <a:avLst/>
          </a:prstGeom>
          <a:solidFill>
            <a:srgbClr val="17324D"/>
          </a:solidFill>
          <a:ln w="12700">
            <a:solidFill>
              <a:srgbClr val="E6EA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6867144" y="1876044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Variable</a:t>
            </a:r>
            <a:endParaRPr lang="en-US" sz="1150"/>
          </a:p>
        </p:txBody>
      </p:sp>
      <p:sp>
        <p:nvSpPr>
          <p:cNvPr id="21" name="Shape 18"/>
          <p:cNvSpPr/>
          <p:nvPr/>
        </p:nvSpPr>
        <p:spPr>
          <a:xfrm>
            <a:off x="8915400" y="1821180"/>
            <a:ext cx="960120" cy="384048"/>
          </a:xfrm>
          <a:prstGeom prst="rect">
            <a:avLst/>
          </a:prstGeom>
          <a:solidFill>
            <a:srgbClr val="17324D"/>
          </a:solidFill>
          <a:ln w="12700">
            <a:solidFill>
              <a:srgbClr val="E6EA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8970264" y="1876044"/>
            <a:ext cx="850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Retained</a:t>
            </a:r>
            <a:endParaRPr lang="en-US" sz="1150"/>
          </a:p>
        </p:txBody>
      </p:sp>
      <p:sp>
        <p:nvSpPr>
          <p:cNvPr id="23" name="Shape 20"/>
          <p:cNvSpPr/>
          <p:nvPr/>
        </p:nvSpPr>
        <p:spPr>
          <a:xfrm>
            <a:off x="9875520" y="1821180"/>
            <a:ext cx="960120" cy="384048"/>
          </a:xfrm>
          <a:prstGeom prst="rect">
            <a:avLst/>
          </a:prstGeom>
          <a:solidFill>
            <a:srgbClr val="17324D"/>
          </a:solidFill>
          <a:ln w="12700">
            <a:solidFill>
              <a:srgbClr val="E6EA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9930384" y="1876044"/>
            <a:ext cx="850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Churned</a:t>
            </a:r>
            <a:endParaRPr lang="en-US" sz="1150"/>
          </a:p>
        </p:txBody>
      </p:sp>
      <p:sp>
        <p:nvSpPr>
          <p:cNvPr id="25" name="Shape 22"/>
          <p:cNvSpPr/>
          <p:nvPr/>
        </p:nvSpPr>
        <p:spPr>
          <a:xfrm>
            <a:off x="6812280" y="2205228"/>
            <a:ext cx="21031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6EA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6867144" y="2260092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satisfaction</a:t>
            </a:r>
            <a:endParaRPr lang="en-US" sz="1250"/>
          </a:p>
        </p:txBody>
      </p:sp>
      <p:sp>
        <p:nvSpPr>
          <p:cNvPr id="27" name="Shape 24"/>
          <p:cNvSpPr/>
          <p:nvPr/>
        </p:nvSpPr>
        <p:spPr>
          <a:xfrm>
            <a:off x="8915400" y="2205228"/>
            <a:ext cx="9601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6EA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8970264" y="2260092"/>
            <a:ext cx="850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3.48</a:t>
            </a:r>
            <a:endParaRPr lang="en-US" sz="1250"/>
          </a:p>
        </p:txBody>
      </p:sp>
      <p:sp>
        <p:nvSpPr>
          <p:cNvPr id="29" name="Shape 26"/>
          <p:cNvSpPr/>
          <p:nvPr/>
        </p:nvSpPr>
        <p:spPr>
          <a:xfrm>
            <a:off x="9875520" y="2205228"/>
            <a:ext cx="9601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6EA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9930384" y="2260092"/>
            <a:ext cx="850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3.15</a:t>
            </a:r>
            <a:endParaRPr lang="en-US" sz="1250"/>
          </a:p>
        </p:txBody>
      </p:sp>
      <p:sp>
        <p:nvSpPr>
          <p:cNvPr id="31" name="Shape 28"/>
          <p:cNvSpPr/>
          <p:nvPr/>
        </p:nvSpPr>
        <p:spPr>
          <a:xfrm>
            <a:off x="6812280" y="2589276"/>
            <a:ext cx="21031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6EA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6867144" y="2644140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 since last visit</a:t>
            </a:r>
            <a:endParaRPr lang="en-US" sz="1250"/>
          </a:p>
        </p:txBody>
      </p:sp>
      <p:sp>
        <p:nvSpPr>
          <p:cNvPr id="33" name="Shape 30"/>
          <p:cNvSpPr/>
          <p:nvPr/>
        </p:nvSpPr>
        <p:spPr>
          <a:xfrm>
            <a:off x="8915400" y="2589276"/>
            <a:ext cx="9601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6EA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8970264" y="2644140"/>
            <a:ext cx="850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339.1</a:t>
            </a:r>
            <a:endParaRPr lang="en-US" sz="1250"/>
          </a:p>
        </p:txBody>
      </p:sp>
      <p:sp>
        <p:nvSpPr>
          <p:cNvPr id="35" name="Shape 32"/>
          <p:cNvSpPr/>
          <p:nvPr/>
        </p:nvSpPr>
        <p:spPr>
          <a:xfrm>
            <a:off x="9875520" y="2589276"/>
            <a:ext cx="9601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6EA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3"/>
          <p:cNvSpPr/>
          <p:nvPr/>
        </p:nvSpPr>
        <p:spPr>
          <a:xfrm>
            <a:off x="9930384" y="2644140"/>
            <a:ext cx="850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378.6</a:t>
            </a:r>
            <a:endParaRPr lang="en-US" sz="1250"/>
          </a:p>
        </p:txBody>
      </p:sp>
      <p:sp>
        <p:nvSpPr>
          <p:cNvPr id="37" name="Shape 34"/>
          <p:cNvSpPr/>
          <p:nvPr/>
        </p:nvSpPr>
        <p:spPr>
          <a:xfrm>
            <a:off x="6812280" y="2973324"/>
            <a:ext cx="21031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6EA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5"/>
          <p:cNvSpPr/>
          <p:nvPr/>
        </p:nvSpPr>
        <p:spPr>
          <a:xfrm>
            <a:off x="6867144" y="3028188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Wait-time satisfaction</a:t>
            </a:r>
            <a:endParaRPr lang="en-US" sz="1250"/>
          </a:p>
        </p:txBody>
      </p:sp>
      <p:sp>
        <p:nvSpPr>
          <p:cNvPr id="39" name="Shape 36"/>
          <p:cNvSpPr/>
          <p:nvPr/>
        </p:nvSpPr>
        <p:spPr>
          <a:xfrm>
            <a:off x="8915400" y="2973324"/>
            <a:ext cx="9601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6EA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7"/>
          <p:cNvSpPr/>
          <p:nvPr/>
        </p:nvSpPr>
        <p:spPr>
          <a:xfrm>
            <a:off x="8970264" y="3028188"/>
            <a:ext cx="850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3.41</a:t>
            </a:r>
            <a:endParaRPr lang="en-US" sz="1250"/>
          </a:p>
        </p:txBody>
      </p:sp>
      <p:sp>
        <p:nvSpPr>
          <p:cNvPr id="41" name="Shape 38"/>
          <p:cNvSpPr/>
          <p:nvPr/>
        </p:nvSpPr>
        <p:spPr>
          <a:xfrm>
            <a:off x="9875520" y="2973324"/>
            <a:ext cx="9601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6EA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39"/>
          <p:cNvSpPr/>
          <p:nvPr/>
        </p:nvSpPr>
        <p:spPr>
          <a:xfrm>
            <a:off x="9930384" y="3028188"/>
            <a:ext cx="850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3.24</a:t>
            </a:r>
            <a:endParaRPr lang="en-US" sz="1250"/>
          </a:p>
        </p:txBody>
      </p:sp>
      <p:sp>
        <p:nvSpPr>
          <p:cNvPr id="43" name="Shape 40"/>
          <p:cNvSpPr/>
          <p:nvPr/>
        </p:nvSpPr>
        <p:spPr>
          <a:xfrm>
            <a:off x="6812280" y="3357372"/>
            <a:ext cx="21031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6EA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1"/>
          <p:cNvSpPr/>
          <p:nvPr/>
        </p:nvSpPr>
        <p:spPr>
          <a:xfrm>
            <a:off x="6867144" y="3412236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Tenure (months)</a:t>
            </a:r>
            <a:endParaRPr lang="en-US" sz="1250"/>
          </a:p>
        </p:txBody>
      </p:sp>
      <p:sp>
        <p:nvSpPr>
          <p:cNvPr id="45" name="Shape 42"/>
          <p:cNvSpPr/>
          <p:nvPr/>
        </p:nvSpPr>
        <p:spPr>
          <a:xfrm>
            <a:off x="8915400" y="3357372"/>
            <a:ext cx="9601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6EA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3"/>
          <p:cNvSpPr/>
          <p:nvPr/>
        </p:nvSpPr>
        <p:spPr>
          <a:xfrm>
            <a:off x="8970264" y="3412236"/>
            <a:ext cx="850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64.8</a:t>
            </a:r>
            <a:endParaRPr lang="en-US" sz="1250"/>
          </a:p>
        </p:txBody>
      </p:sp>
      <p:sp>
        <p:nvSpPr>
          <p:cNvPr id="47" name="Shape 44"/>
          <p:cNvSpPr/>
          <p:nvPr/>
        </p:nvSpPr>
        <p:spPr>
          <a:xfrm>
            <a:off x="9875520" y="3357372"/>
            <a:ext cx="9601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6EA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5"/>
          <p:cNvSpPr/>
          <p:nvPr/>
        </p:nvSpPr>
        <p:spPr>
          <a:xfrm>
            <a:off x="9930384" y="3412236"/>
            <a:ext cx="850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58.8</a:t>
            </a:r>
            <a:endParaRPr lang="en-US" sz="1250"/>
          </a:p>
        </p:txBody>
      </p:sp>
      <p:sp>
        <p:nvSpPr>
          <p:cNvPr id="49" name="Shape 46"/>
          <p:cNvSpPr/>
          <p:nvPr/>
        </p:nvSpPr>
        <p:spPr>
          <a:xfrm>
            <a:off x="6812280" y="3741420"/>
            <a:ext cx="21031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6EA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7"/>
          <p:cNvSpPr/>
          <p:nvPr/>
        </p:nvSpPr>
        <p:spPr>
          <a:xfrm>
            <a:off x="6867144" y="3796284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Distance (miles)</a:t>
            </a:r>
            <a:endParaRPr lang="en-US" sz="1250"/>
          </a:p>
        </p:txBody>
      </p:sp>
      <p:sp>
        <p:nvSpPr>
          <p:cNvPr id="51" name="Shape 48"/>
          <p:cNvSpPr/>
          <p:nvPr/>
        </p:nvSpPr>
        <p:spPr>
          <a:xfrm>
            <a:off x="8915400" y="3741420"/>
            <a:ext cx="9601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6EA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49"/>
          <p:cNvSpPr/>
          <p:nvPr/>
        </p:nvSpPr>
        <p:spPr>
          <a:xfrm>
            <a:off x="8970264" y="3796284"/>
            <a:ext cx="850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23.6</a:t>
            </a:r>
            <a:endParaRPr lang="en-US" sz="1250"/>
          </a:p>
        </p:txBody>
      </p:sp>
      <p:sp>
        <p:nvSpPr>
          <p:cNvPr id="53" name="Shape 50"/>
          <p:cNvSpPr/>
          <p:nvPr/>
        </p:nvSpPr>
        <p:spPr>
          <a:xfrm>
            <a:off x="9875520" y="3741420"/>
            <a:ext cx="9601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6EA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1"/>
          <p:cNvSpPr/>
          <p:nvPr/>
        </p:nvSpPr>
        <p:spPr>
          <a:xfrm>
            <a:off x="9930384" y="3796284"/>
            <a:ext cx="850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25.9</a:t>
            </a:r>
            <a:endParaRPr lang="en-US" sz="1250"/>
          </a:p>
        </p:txBody>
      </p:sp>
      <p:sp>
        <p:nvSpPr>
          <p:cNvPr id="55" name="Shape 52"/>
          <p:cNvSpPr/>
          <p:nvPr/>
        </p:nvSpPr>
        <p:spPr>
          <a:xfrm>
            <a:off x="8003097" y="4407407"/>
            <a:ext cx="3015423" cy="1641047"/>
          </a:xfrm>
          <a:prstGeom prst="roundRect">
            <a:avLst>
              <a:gd name="adj" fmla="val 3922"/>
            </a:avLst>
          </a:prstGeom>
          <a:solidFill>
            <a:srgbClr val="E7F4E5"/>
          </a:solidFill>
          <a:ln w="12700">
            <a:solidFill>
              <a:srgbClr val="E7F4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3"/>
          <p:cNvSpPr/>
          <p:nvPr/>
        </p:nvSpPr>
        <p:spPr>
          <a:xfrm>
            <a:off x="8151205" y="4472868"/>
            <a:ext cx="1293876" cy="1947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5D9C59"/>
                </a:solidFill>
              </a:rPr>
              <a:t>Takeaway</a:t>
            </a:r>
            <a:endParaRPr lang="en-US" sz="1300"/>
          </a:p>
        </p:txBody>
      </p:sp>
      <p:sp>
        <p:nvSpPr>
          <p:cNvPr id="57" name="Text 54"/>
          <p:cNvSpPr/>
          <p:nvPr/>
        </p:nvSpPr>
        <p:spPr>
          <a:xfrm>
            <a:off x="8188200" y="5090027"/>
            <a:ext cx="276316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>
                <a:solidFill>
                  <a:srgbClr val="0F172A"/>
                </a:solidFill>
              </a:rPr>
              <a:t>The strongest signals are experience quality, visit recency, and access. Referrals made and staff satisfaction were not significant individually.</a:t>
            </a:r>
            <a:endParaRPr lang="en-US" sz="1450"/>
          </a:p>
        </p:txBody>
      </p:sp>
      <p:sp>
        <p:nvSpPr>
          <p:cNvPr id="58" name="Text 55"/>
          <p:cNvSpPr/>
          <p:nvPr/>
        </p:nvSpPr>
        <p:spPr>
          <a:xfrm>
            <a:off x="11475720" y="6492240"/>
            <a:ext cx="320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/>
          </a:p>
        </p:txBody>
      </p:sp>
      <p:pic>
        <p:nvPicPr>
          <p:cNvPr id="59" name="Content Placeholder 11" descr="A graph with text overlay&#10;&#10;AI-generated content may be incorrect.">
            <a:extLst>
              <a:ext uri="{FF2B5EF4-FFF2-40B4-BE49-F238E27FC236}">
                <a16:creationId xmlns:a16="http://schemas.microsoft.com/office/drawing/2014/main" id="{34E171DA-EA68-CC20-3D3B-343B0816CF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429" y="1182320"/>
            <a:ext cx="5234344" cy="3286351"/>
          </a:xfrm>
          <a:prstGeom prst="rect">
            <a:avLst/>
          </a:prstGeom>
        </p:spPr>
      </p:pic>
      <p:pic>
        <p:nvPicPr>
          <p:cNvPr id="60" name="Picture 59" descr="A bar graph with text&#10;&#10;AI-generated content may be incorrect.">
            <a:extLst>
              <a:ext uri="{FF2B5EF4-FFF2-40B4-BE49-F238E27FC236}">
                <a16:creationId xmlns:a16="http://schemas.microsoft.com/office/drawing/2014/main" id="{5AD7595D-8AEC-1BF2-3740-A86D7688C8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085" y="4599848"/>
            <a:ext cx="2842723" cy="1379584"/>
          </a:xfrm>
          <a:prstGeom prst="rect">
            <a:avLst/>
          </a:prstGeom>
        </p:spPr>
      </p:pic>
      <p:sp>
        <p:nvSpPr>
          <p:cNvPr id="61" name="Text 54">
            <a:extLst>
              <a:ext uri="{FF2B5EF4-FFF2-40B4-BE49-F238E27FC236}">
                <a16:creationId xmlns:a16="http://schemas.microsoft.com/office/drawing/2014/main" id="{4A4E5983-75BB-BB81-C226-B61E78721027}"/>
              </a:ext>
            </a:extLst>
          </p:cNvPr>
          <p:cNvSpPr/>
          <p:nvPr/>
        </p:nvSpPr>
        <p:spPr>
          <a:xfrm>
            <a:off x="9491472" y="5620674"/>
            <a:ext cx="14676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200" i="1">
                <a:solidFill>
                  <a:schemeClr val="tx1">
                    <a:lumMod val="65000"/>
                    <a:lumOff val="35000"/>
                  </a:schemeClr>
                </a:solidFill>
              </a:rPr>
              <a:t>t-test / chi-test</a:t>
            </a:r>
          </a:p>
        </p:txBody>
      </p:sp>
      <p:sp>
        <p:nvSpPr>
          <p:cNvPr id="17" name="Shape 0">
            <a:extLst>
              <a:ext uri="{FF2B5EF4-FFF2-40B4-BE49-F238E27FC236}">
                <a16:creationId xmlns:a16="http://schemas.microsoft.com/office/drawing/2014/main" id="{575F366A-8974-1E83-5A14-6F386237B942}"/>
              </a:ext>
            </a:extLst>
          </p:cNvPr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chemeClr val="accent5"/>
          </a:solidFill>
          <a:ln w="12700">
            <a:solidFill>
              <a:srgbClr val="2B8C8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Shape 52">
            <a:extLst>
              <a:ext uri="{FF2B5EF4-FFF2-40B4-BE49-F238E27FC236}">
                <a16:creationId xmlns:a16="http://schemas.microsoft.com/office/drawing/2014/main" id="{FB816DF5-0930-1202-0FE0-36087FB9D190}"/>
              </a:ext>
            </a:extLst>
          </p:cNvPr>
          <p:cNvSpPr/>
          <p:nvPr/>
        </p:nvSpPr>
        <p:spPr>
          <a:xfrm>
            <a:off x="3851721" y="4919314"/>
            <a:ext cx="3874540" cy="1641047"/>
          </a:xfrm>
          <a:prstGeom prst="roundRect">
            <a:avLst>
              <a:gd name="adj" fmla="val 3922"/>
            </a:avLst>
          </a:prstGeom>
          <a:solidFill>
            <a:schemeClr val="accent5">
              <a:lumMod val="20000"/>
              <a:lumOff val="80000"/>
            </a:schemeClr>
          </a:solidFill>
          <a:ln w="12700">
            <a:solidFill>
              <a:srgbClr val="E7F4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BC0085E6-92FB-94A7-94AE-8DDE0B01A5C9}"/>
              </a:ext>
            </a:extLst>
          </p:cNvPr>
          <p:cNvSpPr txBox="1"/>
          <p:nvPr/>
        </p:nvSpPr>
        <p:spPr>
          <a:xfrm>
            <a:off x="3997861" y="4992684"/>
            <a:ext cx="3791823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b="1">
                <a:solidFill>
                  <a:schemeClr val="tx1">
                    <a:lumMod val="85000"/>
                    <a:lumOff val="15000"/>
                  </a:schemeClr>
                </a:solidFill>
              </a:rPr>
              <a:t>Cohen’s d range ≈ 0.11 – 0.33</a:t>
            </a:r>
          </a:p>
          <a:p>
            <a:pPr>
              <a:buNone/>
            </a:pPr>
            <a:endParaRPr lang="en-US" sz="120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200">
                <a:solidFill>
                  <a:schemeClr val="tx1">
                    <a:lumMod val="85000"/>
                    <a:lumOff val="15000"/>
                  </a:schemeClr>
                </a:solidFill>
              </a:rPr>
              <a:t> Effects exist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>
                <a:solidFill>
                  <a:schemeClr val="tx1">
                    <a:lumMod val="85000"/>
                    <a:lumOff val="15000"/>
                  </a:schemeClr>
                </a:solidFill>
              </a:rPr>
              <a:t> but each variable individually explains only a small part of churn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>
                <a:solidFill>
                  <a:schemeClr val="tx1">
                    <a:lumMod val="85000"/>
                    <a:lumOff val="15000"/>
                  </a:schemeClr>
                </a:solidFill>
              </a:rPr>
              <a:t> explains why machine learning models perform better than single-variable tests.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713232" y="256032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>
                <a:solidFill>
                  <a:srgbClr val="2B8C85"/>
                </a:solidFill>
                <a:latin typeface="Arial"/>
                <a:ea typeface="Arial" pitchFamily="34" charset="-122"/>
                <a:cs typeface="Arial"/>
              </a:rPr>
              <a:t>Patient churn - </a:t>
            </a:r>
            <a:r>
              <a:rPr lang="en-US" sz="1000" b="1" err="1">
                <a:solidFill>
                  <a:srgbClr val="2B8C85"/>
                </a:solidFill>
                <a:latin typeface="Arial"/>
                <a:ea typeface="Arial" pitchFamily="34" charset="-122"/>
                <a:cs typeface="Arial"/>
              </a:rPr>
              <a:t>sdi</a:t>
            </a:r>
            <a:endParaRPr lang="en-US" sz="1000" err="1"/>
          </a:p>
        </p:txBody>
      </p:sp>
      <p:sp>
        <p:nvSpPr>
          <p:cNvPr id="4" name="Shape 2"/>
          <p:cNvSpPr/>
          <p:nvPr/>
        </p:nvSpPr>
        <p:spPr>
          <a:xfrm>
            <a:off x="8503920" y="374904"/>
            <a:ext cx="2304288" cy="0"/>
          </a:xfrm>
          <a:prstGeom prst="line">
            <a:avLst/>
          </a:prstGeom>
          <a:noFill/>
          <a:ln w="12700">
            <a:solidFill>
              <a:srgbClr val="E6EA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503920" y="292608"/>
            <a:ext cx="164592" cy="164592"/>
          </a:xfrm>
          <a:prstGeom prst="ellipse">
            <a:avLst/>
          </a:prstGeom>
          <a:solidFill>
            <a:srgbClr val="2B8C85"/>
          </a:solidFill>
          <a:ln w="12700">
            <a:solidFill>
              <a:srgbClr val="2B8C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339328" y="475488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</a:t>
            </a:r>
            <a:endParaRPr lang="en-US" sz="750"/>
          </a:p>
        </p:txBody>
      </p:sp>
      <p:sp>
        <p:nvSpPr>
          <p:cNvPr id="7" name="Shape 5"/>
          <p:cNvSpPr/>
          <p:nvPr/>
        </p:nvSpPr>
        <p:spPr>
          <a:xfrm>
            <a:off x="9079992" y="292608"/>
            <a:ext cx="164592" cy="164592"/>
          </a:xfrm>
          <a:prstGeom prst="ellipse">
            <a:avLst/>
          </a:prstGeom>
          <a:solidFill>
            <a:srgbClr val="2B8C85"/>
          </a:solidFill>
          <a:ln w="12700">
            <a:solidFill>
              <a:srgbClr val="2B8C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915400" y="475488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Signals</a:t>
            </a:r>
            <a:endParaRPr lang="en-US" sz="750"/>
          </a:p>
        </p:txBody>
      </p:sp>
      <p:sp>
        <p:nvSpPr>
          <p:cNvPr id="9" name="Shape 7"/>
          <p:cNvSpPr/>
          <p:nvPr/>
        </p:nvSpPr>
        <p:spPr>
          <a:xfrm>
            <a:off x="9656064" y="292608"/>
            <a:ext cx="164592" cy="164592"/>
          </a:xfrm>
          <a:prstGeom prst="ellipse">
            <a:avLst/>
          </a:prstGeom>
          <a:solidFill>
            <a:srgbClr val="D95F5F"/>
          </a:solidFill>
          <a:ln w="12700">
            <a:solidFill>
              <a:srgbClr val="D95F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491472" y="475488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Prediction</a:t>
            </a:r>
            <a:endParaRPr lang="en-US" sz="750"/>
          </a:p>
        </p:txBody>
      </p:sp>
      <p:sp>
        <p:nvSpPr>
          <p:cNvPr id="11" name="Shape 9"/>
          <p:cNvSpPr/>
          <p:nvPr/>
        </p:nvSpPr>
        <p:spPr>
          <a:xfrm>
            <a:off x="10232136" y="29260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6EA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0067544" y="475488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Timing</a:t>
            </a:r>
            <a:endParaRPr lang="en-US" sz="750"/>
          </a:p>
        </p:txBody>
      </p:sp>
      <p:sp>
        <p:nvSpPr>
          <p:cNvPr id="13" name="Shape 11"/>
          <p:cNvSpPr/>
          <p:nvPr/>
        </p:nvSpPr>
        <p:spPr>
          <a:xfrm>
            <a:off x="10808208" y="29260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6EA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0643616" y="475488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</a:t>
            </a:r>
            <a:endParaRPr lang="en-US" sz="750"/>
          </a:p>
        </p:txBody>
      </p:sp>
      <p:sp>
        <p:nvSpPr>
          <p:cNvPr id="15" name="Text 13"/>
          <p:cNvSpPr/>
          <p:nvPr/>
        </p:nvSpPr>
        <p:spPr>
          <a:xfrm>
            <a:off x="713232" y="621792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Predicting Risk Isn’t Enough</a:t>
            </a:r>
            <a:endParaRPr lang="en-US" sz="2500"/>
          </a:p>
        </p:txBody>
      </p:sp>
      <p:sp>
        <p:nvSpPr>
          <p:cNvPr id="16" name="Shape 14"/>
          <p:cNvSpPr/>
          <p:nvPr/>
        </p:nvSpPr>
        <p:spPr>
          <a:xfrm>
            <a:off x="713232" y="1170432"/>
            <a:ext cx="10789920" cy="0"/>
          </a:xfrm>
          <a:prstGeom prst="line">
            <a:avLst/>
          </a:prstGeom>
          <a:noFill/>
          <a:ln w="12700">
            <a:solidFill>
              <a:srgbClr val="E6EA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86384" y="1325880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>
                <a:solidFill>
                  <a:srgbClr val="0F172A"/>
                </a:solidFill>
              </a:rPr>
              <a:t>We tested four “risk detectors” </a:t>
            </a:r>
            <a:r>
              <a:rPr lang="en-US">
                <a:solidFill>
                  <a:srgbClr val="0F172A"/>
                </a:solidFill>
              </a:rPr>
              <a:t>-</a:t>
            </a:r>
            <a:r>
              <a:rPr lang="en-US" sz="1800">
                <a:solidFill>
                  <a:srgbClr val="0F172A"/>
                </a:solidFill>
              </a:rPr>
              <a:t> but judged them by how well they separate churned from retained patients across thresholds.</a:t>
            </a:r>
            <a:endParaRPr lang="en-US" sz="1800"/>
          </a:p>
        </p:txBody>
      </p:sp>
      <p:sp>
        <p:nvSpPr>
          <p:cNvPr id="18" name="Shape 16"/>
          <p:cNvSpPr/>
          <p:nvPr/>
        </p:nvSpPr>
        <p:spPr>
          <a:xfrm>
            <a:off x="786384" y="2057401"/>
            <a:ext cx="2487168" cy="1554480"/>
          </a:xfrm>
          <a:prstGeom prst="roundRect">
            <a:avLst>
              <a:gd name="adj" fmla="val 2941"/>
            </a:avLst>
          </a:prstGeom>
          <a:solidFill>
            <a:srgbClr val="DCEFEB"/>
          </a:solidFill>
          <a:ln w="12700">
            <a:solidFill>
              <a:srgbClr val="E6EA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950976" y="2240281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0F172A"/>
                </a:solidFill>
              </a:rPr>
              <a:t>Logistic Regression</a:t>
            </a:r>
            <a:endParaRPr lang="en-US" sz="1800"/>
          </a:p>
        </p:txBody>
      </p:sp>
      <p:sp>
        <p:nvSpPr>
          <p:cNvPr id="20" name="Text 18"/>
          <p:cNvSpPr/>
          <p:nvPr/>
        </p:nvSpPr>
        <p:spPr>
          <a:xfrm>
            <a:off x="950976" y="2606041"/>
            <a:ext cx="2084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475569"/>
                </a:solidFill>
              </a:rPr>
              <a:t>Simple and interpretable</a:t>
            </a:r>
            <a:endParaRPr lang="en-US" sz="1400"/>
          </a:p>
          <a:p>
            <a:pPr marL="0" indent="0">
              <a:buNone/>
            </a:pPr>
            <a:r>
              <a:rPr lang="en-US" sz="1400">
                <a:solidFill>
                  <a:srgbClr val="475569"/>
                </a:solidFill>
              </a:rPr>
              <a:t>Best overall ROC AUC</a:t>
            </a:r>
            <a:endParaRPr lang="en-US" sz="1400"/>
          </a:p>
        </p:txBody>
      </p:sp>
      <p:sp>
        <p:nvSpPr>
          <p:cNvPr id="21" name="Shape 19"/>
          <p:cNvSpPr/>
          <p:nvPr/>
        </p:nvSpPr>
        <p:spPr>
          <a:xfrm>
            <a:off x="3575304" y="2057401"/>
            <a:ext cx="2487168" cy="1554480"/>
          </a:xfrm>
          <a:prstGeom prst="roundRect">
            <a:avLst>
              <a:gd name="adj" fmla="val 2941"/>
            </a:avLst>
          </a:prstGeom>
          <a:solidFill>
            <a:srgbClr val="F5EEE5"/>
          </a:solidFill>
          <a:ln w="12700">
            <a:solidFill>
              <a:srgbClr val="E6EA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739896" y="2240281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0F172A"/>
                </a:solidFill>
              </a:rPr>
              <a:t>Boosted Tree</a:t>
            </a:r>
            <a:endParaRPr lang="en-US" sz="1800"/>
          </a:p>
        </p:txBody>
      </p:sp>
      <p:sp>
        <p:nvSpPr>
          <p:cNvPr id="23" name="Text 21"/>
          <p:cNvSpPr/>
          <p:nvPr/>
        </p:nvSpPr>
        <p:spPr>
          <a:xfrm>
            <a:off x="3739896" y="2606041"/>
            <a:ext cx="2084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475569"/>
                </a:solidFill>
              </a:rPr>
              <a:t>Performance-focused</a:t>
            </a:r>
            <a:endParaRPr lang="en-US" sz="1400"/>
          </a:p>
          <a:p>
            <a:pPr marL="0" indent="0">
              <a:buNone/>
            </a:pPr>
            <a:r>
              <a:rPr lang="en-US" sz="1400">
                <a:solidFill>
                  <a:srgbClr val="475569"/>
                </a:solidFill>
              </a:rPr>
              <a:t>Captures nonlinear patterns</a:t>
            </a:r>
            <a:endParaRPr lang="en-US" sz="1400"/>
          </a:p>
        </p:txBody>
      </p:sp>
      <p:sp>
        <p:nvSpPr>
          <p:cNvPr id="24" name="Shape 22"/>
          <p:cNvSpPr/>
          <p:nvPr/>
        </p:nvSpPr>
        <p:spPr>
          <a:xfrm>
            <a:off x="6364224" y="2057401"/>
            <a:ext cx="2487168" cy="1554480"/>
          </a:xfrm>
          <a:prstGeom prst="roundRect">
            <a:avLst>
              <a:gd name="adj" fmla="val 2941"/>
            </a:avLst>
          </a:prstGeom>
          <a:solidFill>
            <a:srgbClr val="F2ECF8"/>
          </a:solidFill>
          <a:ln w="12700">
            <a:solidFill>
              <a:srgbClr val="E6EA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528816" y="2240281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0F172A"/>
                </a:solidFill>
              </a:rPr>
              <a:t>Random Forest</a:t>
            </a:r>
            <a:endParaRPr lang="en-US" sz="1800"/>
          </a:p>
        </p:txBody>
      </p:sp>
      <p:sp>
        <p:nvSpPr>
          <p:cNvPr id="26" name="Text 24"/>
          <p:cNvSpPr/>
          <p:nvPr/>
        </p:nvSpPr>
        <p:spPr>
          <a:xfrm>
            <a:off x="6528816" y="2606041"/>
            <a:ext cx="2084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475569"/>
                </a:solidFill>
              </a:rPr>
              <a:t>Strong specificity</a:t>
            </a:r>
            <a:endParaRPr lang="en-US" sz="1400"/>
          </a:p>
          <a:p>
            <a:pPr marL="0" indent="0">
              <a:buNone/>
            </a:pPr>
            <a:r>
              <a:rPr lang="en-US" sz="1400">
                <a:solidFill>
                  <a:srgbClr val="475569"/>
                </a:solidFill>
              </a:rPr>
              <a:t>But harder to explain</a:t>
            </a:r>
            <a:endParaRPr lang="en-US" sz="1400"/>
          </a:p>
        </p:txBody>
      </p:sp>
      <p:sp>
        <p:nvSpPr>
          <p:cNvPr id="27" name="Shape 25"/>
          <p:cNvSpPr/>
          <p:nvPr/>
        </p:nvSpPr>
        <p:spPr>
          <a:xfrm>
            <a:off x="9153144" y="2057401"/>
            <a:ext cx="2487168" cy="1554480"/>
          </a:xfrm>
          <a:prstGeom prst="roundRect">
            <a:avLst>
              <a:gd name="adj" fmla="val 2941"/>
            </a:avLst>
          </a:prstGeom>
          <a:solidFill>
            <a:srgbClr val="EAF1FA"/>
          </a:solidFill>
          <a:ln w="12700">
            <a:solidFill>
              <a:srgbClr val="E6EA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9317736" y="2240281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0F172A"/>
                </a:solidFill>
              </a:rPr>
              <a:t>k-Nearest Neighbors</a:t>
            </a:r>
            <a:endParaRPr lang="en-US" sz="1800"/>
          </a:p>
        </p:txBody>
      </p:sp>
      <p:sp>
        <p:nvSpPr>
          <p:cNvPr id="29" name="Text 27"/>
          <p:cNvSpPr/>
          <p:nvPr/>
        </p:nvSpPr>
        <p:spPr>
          <a:xfrm>
            <a:off x="9317736" y="2606041"/>
            <a:ext cx="2084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475569"/>
                </a:solidFill>
              </a:rPr>
              <a:t>Similarity-based</a:t>
            </a:r>
            <a:endParaRPr lang="en-US" sz="1400"/>
          </a:p>
          <a:p>
            <a:pPr marL="0" indent="0">
              <a:buNone/>
            </a:pPr>
            <a:r>
              <a:rPr lang="en-US" sz="1400">
                <a:solidFill>
                  <a:srgbClr val="475569"/>
                </a:solidFill>
              </a:rPr>
              <a:t>Sensitive to local patterns</a:t>
            </a:r>
            <a:endParaRPr lang="en-US" sz="1400"/>
          </a:p>
        </p:txBody>
      </p:sp>
      <p:sp>
        <p:nvSpPr>
          <p:cNvPr id="30" name="Shape 28"/>
          <p:cNvSpPr/>
          <p:nvPr/>
        </p:nvSpPr>
        <p:spPr>
          <a:xfrm>
            <a:off x="960120" y="4160520"/>
            <a:ext cx="10058400" cy="0"/>
          </a:xfrm>
          <a:prstGeom prst="line">
            <a:avLst/>
          </a:prstGeom>
          <a:noFill/>
          <a:ln w="12700">
            <a:solidFill>
              <a:srgbClr val="E6EA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786384" y="4434840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2B8C85"/>
                </a:solidFill>
              </a:rPr>
              <a:t>Evaluation design</a:t>
            </a:r>
            <a:endParaRPr lang="en-US" sz="1300"/>
          </a:p>
        </p:txBody>
      </p:sp>
      <p:sp>
        <p:nvSpPr>
          <p:cNvPr id="32" name="Text 30"/>
          <p:cNvSpPr/>
          <p:nvPr/>
        </p:nvSpPr>
        <p:spPr>
          <a:xfrm>
            <a:off x="2377440" y="4407408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20">
                <a:solidFill>
                  <a:srgbClr val="0F172A"/>
                </a:solidFill>
              </a:rPr>
              <a:t>80/20 train-test split    •    5-fold cross-validation    •    Accuracy, sensitivity, specificity, F1, and ROC AUC</a:t>
            </a:r>
            <a:endParaRPr lang="en-US" sz="1420"/>
          </a:p>
        </p:txBody>
      </p:sp>
      <p:sp>
        <p:nvSpPr>
          <p:cNvPr id="33" name="Shape 31"/>
          <p:cNvSpPr/>
          <p:nvPr/>
        </p:nvSpPr>
        <p:spPr>
          <a:xfrm>
            <a:off x="786384" y="4892040"/>
            <a:ext cx="10241280" cy="841248"/>
          </a:xfrm>
          <a:prstGeom prst="roundRect">
            <a:avLst>
              <a:gd name="adj" fmla="val 4348"/>
            </a:avLst>
          </a:prstGeom>
          <a:solidFill>
            <a:srgbClr val="F2E9D8"/>
          </a:solidFill>
          <a:ln w="12700">
            <a:solidFill>
              <a:srgbClr val="F2E9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987552" y="5200325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>
                <a:solidFill>
                  <a:srgbClr val="D9A441"/>
                </a:solidFill>
              </a:rPr>
              <a:t>Why ROC AUC mattered most</a:t>
            </a:r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2788920" y="5154605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>
                <a:solidFill>
                  <a:srgbClr val="0F172A"/>
                </a:solidFill>
              </a:rPr>
              <a:t>It tells us how well a model ranks future churners above non-churners across all possible cutoffs  -  exactly what early intervention needs.</a:t>
            </a:r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11475720" y="6492240"/>
            <a:ext cx="320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/>
          </a:p>
        </p:txBody>
      </p:sp>
      <p:sp>
        <p:nvSpPr>
          <p:cNvPr id="37" name="Shape 0">
            <a:extLst>
              <a:ext uri="{FF2B5EF4-FFF2-40B4-BE49-F238E27FC236}">
                <a16:creationId xmlns:a16="http://schemas.microsoft.com/office/drawing/2014/main" id="{11E6DCF5-F0CB-3503-CFDC-6C7440825736}"/>
              </a:ext>
            </a:extLst>
          </p:cNvPr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chemeClr val="accent5"/>
          </a:solidFill>
          <a:ln w="12700">
            <a:solidFill>
              <a:srgbClr val="2B8C8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chemeClr val="accent5"/>
          </a:solidFill>
          <a:ln w="12700">
            <a:solidFill>
              <a:srgbClr val="2B8C8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13232" y="256032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>
                <a:solidFill>
                  <a:srgbClr val="2B8C85"/>
                </a:solidFill>
                <a:latin typeface="Arial"/>
                <a:ea typeface="Arial" pitchFamily="34" charset="-122"/>
                <a:cs typeface="Arial"/>
              </a:rPr>
              <a:t>Patient churn- </a:t>
            </a:r>
            <a:r>
              <a:rPr lang="en-US" sz="1000" b="1" err="1">
                <a:solidFill>
                  <a:srgbClr val="2B8C85"/>
                </a:solidFill>
                <a:latin typeface="Arial"/>
                <a:ea typeface="Arial" pitchFamily="34" charset="-122"/>
                <a:cs typeface="Arial"/>
              </a:rPr>
              <a:t>sdi</a:t>
            </a:r>
            <a:endParaRPr lang="en-US" sz="1000">
              <a:latin typeface="Arial"/>
              <a:cs typeface="Arial"/>
            </a:endParaRPr>
          </a:p>
        </p:txBody>
      </p:sp>
      <p:sp>
        <p:nvSpPr>
          <p:cNvPr id="4" name="Shape 2"/>
          <p:cNvSpPr/>
          <p:nvPr/>
        </p:nvSpPr>
        <p:spPr>
          <a:xfrm>
            <a:off x="8503920" y="374904"/>
            <a:ext cx="2304288" cy="0"/>
          </a:xfrm>
          <a:prstGeom prst="line">
            <a:avLst/>
          </a:prstGeom>
          <a:noFill/>
          <a:ln w="12700">
            <a:solidFill>
              <a:srgbClr val="E6EA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503920" y="292608"/>
            <a:ext cx="164592" cy="164592"/>
          </a:xfrm>
          <a:prstGeom prst="ellipse">
            <a:avLst/>
          </a:prstGeom>
          <a:solidFill>
            <a:srgbClr val="2B8C85"/>
          </a:solidFill>
          <a:ln w="12700">
            <a:solidFill>
              <a:srgbClr val="2B8C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339328" y="475488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</a:t>
            </a:r>
            <a:endParaRPr lang="en-US" sz="750"/>
          </a:p>
        </p:txBody>
      </p:sp>
      <p:sp>
        <p:nvSpPr>
          <p:cNvPr id="7" name="Shape 5"/>
          <p:cNvSpPr/>
          <p:nvPr/>
        </p:nvSpPr>
        <p:spPr>
          <a:xfrm>
            <a:off x="9079992" y="292608"/>
            <a:ext cx="164592" cy="164592"/>
          </a:xfrm>
          <a:prstGeom prst="ellipse">
            <a:avLst/>
          </a:prstGeom>
          <a:solidFill>
            <a:srgbClr val="2B8C85"/>
          </a:solidFill>
          <a:ln w="12700">
            <a:solidFill>
              <a:srgbClr val="2B8C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915400" y="475488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Signals</a:t>
            </a:r>
            <a:endParaRPr lang="en-US" sz="750"/>
          </a:p>
        </p:txBody>
      </p:sp>
      <p:sp>
        <p:nvSpPr>
          <p:cNvPr id="9" name="Shape 7"/>
          <p:cNvSpPr/>
          <p:nvPr/>
        </p:nvSpPr>
        <p:spPr>
          <a:xfrm>
            <a:off x="9656064" y="292608"/>
            <a:ext cx="164592" cy="164592"/>
          </a:xfrm>
          <a:prstGeom prst="ellipse">
            <a:avLst/>
          </a:prstGeom>
          <a:solidFill>
            <a:srgbClr val="D95F5F"/>
          </a:solidFill>
          <a:ln w="12700">
            <a:solidFill>
              <a:srgbClr val="D95F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491472" y="475488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Prediction</a:t>
            </a:r>
            <a:endParaRPr lang="en-US" sz="750"/>
          </a:p>
        </p:txBody>
      </p:sp>
      <p:sp>
        <p:nvSpPr>
          <p:cNvPr id="11" name="Shape 9"/>
          <p:cNvSpPr/>
          <p:nvPr/>
        </p:nvSpPr>
        <p:spPr>
          <a:xfrm>
            <a:off x="10232136" y="29260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6EA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0067544" y="475488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Timing</a:t>
            </a:r>
            <a:endParaRPr lang="en-US" sz="750"/>
          </a:p>
        </p:txBody>
      </p:sp>
      <p:sp>
        <p:nvSpPr>
          <p:cNvPr id="13" name="Shape 11"/>
          <p:cNvSpPr/>
          <p:nvPr/>
        </p:nvSpPr>
        <p:spPr>
          <a:xfrm>
            <a:off x="10808208" y="29260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6EA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0643616" y="475488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</a:t>
            </a:r>
            <a:endParaRPr lang="en-US" sz="750"/>
          </a:p>
        </p:txBody>
      </p:sp>
      <p:sp>
        <p:nvSpPr>
          <p:cNvPr id="15" name="Text 13"/>
          <p:cNvSpPr/>
          <p:nvPr/>
        </p:nvSpPr>
        <p:spPr>
          <a:xfrm>
            <a:off x="713232" y="621792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Risk Detector Worked Best?</a:t>
            </a:r>
            <a:endParaRPr lang="en-US" sz="2500"/>
          </a:p>
        </p:txBody>
      </p:sp>
      <p:sp>
        <p:nvSpPr>
          <p:cNvPr id="16" name="Shape 14"/>
          <p:cNvSpPr/>
          <p:nvPr/>
        </p:nvSpPr>
        <p:spPr>
          <a:xfrm>
            <a:off x="713232" y="1170432"/>
            <a:ext cx="10789920" cy="0"/>
          </a:xfrm>
          <a:prstGeom prst="line">
            <a:avLst/>
          </a:prstGeom>
          <a:noFill/>
          <a:ln w="12700">
            <a:solidFill>
              <a:srgbClr val="E6EA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6846316" y="1376171"/>
            <a:ext cx="4922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D95F5F"/>
                </a:solidFill>
              </a:rPr>
              <a:t>Logistic Regression wins on ROC AUC.</a:t>
            </a:r>
            <a:endParaRPr lang="en-US" sz="2000"/>
          </a:p>
        </p:txBody>
      </p:sp>
      <p:sp>
        <p:nvSpPr>
          <p:cNvPr id="19" name="Shape 16"/>
          <p:cNvSpPr/>
          <p:nvPr/>
        </p:nvSpPr>
        <p:spPr>
          <a:xfrm>
            <a:off x="6847840" y="1828800"/>
            <a:ext cx="1463040" cy="292608"/>
          </a:xfrm>
          <a:prstGeom prst="rect">
            <a:avLst/>
          </a:prstGeom>
          <a:solidFill>
            <a:srgbClr val="17324D"/>
          </a:solidFill>
          <a:ln w="12700">
            <a:solidFill>
              <a:srgbClr val="E6EA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6902704" y="1883664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</a:t>
            </a:r>
            <a:endParaRPr lang="en-US" sz="1050"/>
          </a:p>
        </p:txBody>
      </p:sp>
      <p:sp>
        <p:nvSpPr>
          <p:cNvPr id="21" name="Shape 18"/>
          <p:cNvSpPr/>
          <p:nvPr/>
        </p:nvSpPr>
        <p:spPr>
          <a:xfrm>
            <a:off x="8310880" y="1828800"/>
            <a:ext cx="502920" cy="292608"/>
          </a:xfrm>
          <a:prstGeom prst="rect">
            <a:avLst/>
          </a:prstGeom>
          <a:solidFill>
            <a:srgbClr val="17324D"/>
          </a:solidFill>
          <a:ln w="12700">
            <a:solidFill>
              <a:srgbClr val="E6EA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8365744" y="1883664"/>
            <a:ext cx="393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</a:t>
            </a:r>
            <a:endParaRPr lang="en-US" sz="1050"/>
          </a:p>
        </p:txBody>
      </p:sp>
      <p:sp>
        <p:nvSpPr>
          <p:cNvPr id="23" name="Shape 20"/>
          <p:cNvSpPr/>
          <p:nvPr/>
        </p:nvSpPr>
        <p:spPr>
          <a:xfrm>
            <a:off x="8813800" y="1828800"/>
            <a:ext cx="548640" cy="292608"/>
          </a:xfrm>
          <a:prstGeom prst="rect">
            <a:avLst/>
          </a:prstGeom>
          <a:solidFill>
            <a:srgbClr val="17324D"/>
          </a:solidFill>
          <a:ln w="12700">
            <a:solidFill>
              <a:srgbClr val="E6EA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8868664" y="1883664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</a:t>
            </a:r>
            <a:endParaRPr lang="en-US" sz="1050"/>
          </a:p>
        </p:txBody>
      </p:sp>
      <p:sp>
        <p:nvSpPr>
          <p:cNvPr id="25" name="Shape 22"/>
          <p:cNvSpPr/>
          <p:nvPr/>
        </p:nvSpPr>
        <p:spPr>
          <a:xfrm>
            <a:off x="9362440" y="1828800"/>
            <a:ext cx="548640" cy="292608"/>
          </a:xfrm>
          <a:prstGeom prst="rect">
            <a:avLst/>
          </a:prstGeom>
          <a:solidFill>
            <a:srgbClr val="17324D"/>
          </a:solidFill>
          <a:ln w="12700">
            <a:solidFill>
              <a:srgbClr val="E6EA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9417304" y="1883664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</a:t>
            </a:r>
            <a:endParaRPr lang="en-US" sz="1050"/>
          </a:p>
        </p:txBody>
      </p:sp>
      <p:sp>
        <p:nvSpPr>
          <p:cNvPr id="27" name="Shape 24"/>
          <p:cNvSpPr/>
          <p:nvPr/>
        </p:nvSpPr>
        <p:spPr>
          <a:xfrm>
            <a:off x="9911080" y="1828800"/>
            <a:ext cx="457200" cy="292608"/>
          </a:xfrm>
          <a:prstGeom prst="rect">
            <a:avLst/>
          </a:prstGeom>
          <a:solidFill>
            <a:srgbClr val="17324D"/>
          </a:solidFill>
          <a:ln w="12700">
            <a:solidFill>
              <a:srgbClr val="E6EA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9965944" y="1883664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</a:t>
            </a:r>
            <a:endParaRPr lang="en-US" sz="1050"/>
          </a:p>
        </p:txBody>
      </p:sp>
      <p:sp>
        <p:nvSpPr>
          <p:cNvPr id="29" name="Shape 26"/>
          <p:cNvSpPr/>
          <p:nvPr/>
        </p:nvSpPr>
        <p:spPr>
          <a:xfrm>
            <a:off x="10368280" y="1828800"/>
            <a:ext cx="731520" cy="292608"/>
          </a:xfrm>
          <a:prstGeom prst="rect">
            <a:avLst/>
          </a:prstGeom>
          <a:solidFill>
            <a:srgbClr val="17324D"/>
          </a:solidFill>
          <a:ln w="12700">
            <a:solidFill>
              <a:srgbClr val="E6EA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10423144" y="1883664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ROC AUC</a:t>
            </a:r>
            <a:endParaRPr lang="en-US" sz="1050"/>
          </a:p>
        </p:txBody>
      </p:sp>
      <p:sp>
        <p:nvSpPr>
          <p:cNvPr id="31" name="Shape 28"/>
          <p:cNvSpPr/>
          <p:nvPr/>
        </p:nvSpPr>
        <p:spPr>
          <a:xfrm>
            <a:off x="6847840" y="2121408"/>
            <a:ext cx="146304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6EA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6902704" y="2176272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Forest</a:t>
            </a:r>
            <a:endParaRPr lang="en-US" sz="1150"/>
          </a:p>
        </p:txBody>
      </p:sp>
      <p:sp>
        <p:nvSpPr>
          <p:cNvPr id="33" name="Shape 30"/>
          <p:cNvSpPr/>
          <p:nvPr/>
        </p:nvSpPr>
        <p:spPr>
          <a:xfrm>
            <a:off x="8310880" y="2121408"/>
            <a:ext cx="50292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6EA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8365744" y="2176272"/>
            <a:ext cx="393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.69</a:t>
            </a:r>
            <a:endParaRPr lang="en-US" sz="1150"/>
          </a:p>
        </p:txBody>
      </p:sp>
      <p:sp>
        <p:nvSpPr>
          <p:cNvPr id="35" name="Shape 32"/>
          <p:cNvSpPr/>
          <p:nvPr/>
        </p:nvSpPr>
        <p:spPr>
          <a:xfrm>
            <a:off x="8813800" y="2121408"/>
            <a:ext cx="54864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6EA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3"/>
          <p:cNvSpPr/>
          <p:nvPr/>
        </p:nvSpPr>
        <p:spPr>
          <a:xfrm>
            <a:off x="8868664" y="2176272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.07</a:t>
            </a:r>
            <a:endParaRPr lang="en-US" sz="1150"/>
          </a:p>
        </p:txBody>
      </p:sp>
      <p:sp>
        <p:nvSpPr>
          <p:cNvPr id="37" name="Shape 34"/>
          <p:cNvSpPr/>
          <p:nvPr/>
        </p:nvSpPr>
        <p:spPr>
          <a:xfrm>
            <a:off x="9362440" y="2121408"/>
            <a:ext cx="54864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6EA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5"/>
          <p:cNvSpPr/>
          <p:nvPr/>
        </p:nvSpPr>
        <p:spPr>
          <a:xfrm>
            <a:off x="9417304" y="2176272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.95</a:t>
            </a:r>
            <a:endParaRPr lang="en-US" sz="1150"/>
          </a:p>
        </p:txBody>
      </p:sp>
      <p:sp>
        <p:nvSpPr>
          <p:cNvPr id="39" name="Shape 36"/>
          <p:cNvSpPr/>
          <p:nvPr/>
        </p:nvSpPr>
        <p:spPr>
          <a:xfrm>
            <a:off x="9911080" y="2121408"/>
            <a:ext cx="45720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6EA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7"/>
          <p:cNvSpPr/>
          <p:nvPr/>
        </p:nvSpPr>
        <p:spPr>
          <a:xfrm>
            <a:off x="9965944" y="2176272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.14</a:t>
            </a:r>
            <a:endParaRPr lang="en-US" sz="1150"/>
          </a:p>
        </p:txBody>
      </p:sp>
      <p:sp>
        <p:nvSpPr>
          <p:cNvPr id="41" name="Shape 38"/>
          <p:cNvSpPr/>
          <p:nvPr/>
        </p:nvSpPr>
        <p:spPr>
          <a:xfrm>
            <a:off x="10368280" y="2121408"/>
            <a:ext cx="73152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6EA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39"/>
          <p:cNvSpPr/>
          <p:nvPr/>
        </p:nvSpPr>
        <p:spPr>
          <a:xfrm>
            <a:off x="10423144" y="217627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.63</a:t>
            </a:r>
            <a:endParaRPr lang="en-US" sz="1150"/>
          </a:p>
        </p:txBody>
      </p:sp>
      <p:sp>
        <p:nvSpPr>
          <p:cNvPr id="43" name="Shape 40"/>
          <p:cNvSpPr/>
          <p:nvPr/>
        </p:nvSpPr>
        <p:spPr>
          <a:xfrm>
            <a:off x="6847840" y="2414016"/>
            <a:ext cx="146304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6EA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1"/>
          <p:cNvSpPr/>
          <p:nvPr/>
        </p:nvSpPr>
        <p:spPr>
          <a:xfrm>
            <a:off x="6902704" y="2468880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Logistic Reg.</a:t>
            </a:r>
            <a:endParaRPr lang="en-US" sz="1150"/>
          </a:p>
        </p:txBody>
      </p:sp>
      <p:sp>
        <p:nvSpPr>
          <p:cNvPr id="45" name="Shape 42"/>
          <p:cNvSpPr/>
          <p:nvPr/>
        </p:nvSpPr>
        <p:spPr>
          <a:xfrm>
            <a:off x="8310880" y="2414016"/>
            <a:ext cx="50292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6EA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3"/>
          <p:cNvSpPr/>
          <p:nvPr/>
        </p:nvSpPr>
        <p:spPr>
          <a:xfrm>
            <a:off x="8365744" y="2468880"/>
            <a:ext cx="393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.68</a:t>
            </a:r>
            <a:endParaRPr lang="en-US" sz="1150"/>
          </a:p>
        </p:txBody>
      </p:sp>
      <p:sp>
        <p:nvSpPr>
          <p:cNvPr id="47" name="Shape 44"/>
          <p:cNvSpPr/>
          <p:nvPr/>
        </p:nvSpPr>
        <p:spPr>
          <a:xfrm>
            <a:off x="8813800" y="2414016"/>
            <a:ext cx="54864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6EA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5"/>
          <p:cNvSpPr/>
          <p:nvPr/>
        </p:nvSpPr>
        <p:spPr>
          <a:xfrm>
            <a:off x="8868664" y="2468880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.21</a:t>
            </a:r>
            <a:endParaRPr lang="en-US" sz="1150"/>
          </a:p>
        </p:txBody>
      </p:sp>
      <p:sp>
        <p:nvSpPr>
          <p:cNvPr id="49" name="Shape 46"/>
          <p:cNvSpPr/>
          <p:nvPr/>
        </p:nvSpPr>
        <p:spPr>
          <a:xfrm>
            <a:off x="9362440" y="2414016"/>
            <a:ext cx="54864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6EA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7"/>
          <p:cNvSpPr/>
          <p:nvPr/>
        </p:nvSpPr>
        <p:spPr>
          <a:xfrm>
            <a:off x="9417304" y="2468880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.90</a:t>
            </a:r>
            <a:endParaRPr lang="en-US" sz="1150"/>
          </a:p>
        </p:txBody>
      </p:sp>
      <p:sp>
        <p:nvSpPr>
          <p:cNvPr id="51" name="Shape 48"/>
          <p:cNvSpPr/>
          <p:nvPr/>
        </p:nvSpPr>
        <p:spPr>
          <a:xfrm>
            <a:off x="9911080" y="2414016"/>
            <a:ext cx="45720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6EA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49"/>
          <p:cNvSpPr/>
          <p:nvPr/>
        </p:nvSpPr>
        <p:spPr>
          <a:xfrm>
            <a:off x="9965944" y="2468880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.29</a:t>
            </a:r>
            <a:endParaRPr lang="en-US" sz="1150"/>
          </a:p>
        </p:txBody>
      </p:sp>
      <p:sp>
        <p:nvSpPr>
          <p:cNvPr id="53" name="Shape 50"/>
          <p:cNvSpPr/>
          <p:nvPr/>
        </p:nvSpPr>
        <p:spPr>
          <a:xfrm>
            <a:off x="10368280" y="2414016"/>
            <a:ext cx="73152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6EA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1"/>
          <p:cNvSpPr/>
          <p:nvPr/>
        </p:nvSpPr>
        <p:spPr>
          <a:xfrm>
            <a:off x="10423144" y="2468880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.65</a:t>
            </a:r>
            <a:endParaRPr lang="en-US" sz="1150"/>
          </a:p>
        </p:txBody>
      </p:sp>
      <p:sp>
        <p:nvSpPr>
          <p:cNvPr id="55" name="Shape 52"/>
          <p:cNvSpPr/>
          <p:nvPr/>
        </p:nvSpPr>
        <p:spPr>
          <a:xfrm>
            <a:off x="6847840" y="2706624"/>
            <a:ext cx="146304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6EA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3"/>
          <p:cNvSpPr/>
          <p:nvPr/>
        </p:nvSpPr>
        <p:spPr>
          <a:xfrm>
            <a:off x="6902704" y="2761488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Boosted Tree</a:t>
            </a:r>
            <a:endParaRPr lang="en-US" sz="1150"/>
          </a:p>
        </p:txBody>
      </p:sp>
      <p:sp>
        <p:nvSpPr>
          <p:cNvPr id="57" name="Shape 54"/>
          <p:cNvSpPr/>
          <p:nvPr/>
        </p:nvSpPr>
        <p:spPr>
          <a:xfrm>
            <a:off x="8310880" y="2706624"/>
            <a:ext cx="50292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6EA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5"/>
          <p:cNvSpPr/>
          <p:nvPr/>
        </p:nvSpPr>
        <p:spPr>
          <a:xfrm>
            <a:off x="8365744" y="2761488"/>
            <a:ext cx="393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.66</a:t>
            </a:r>
            <a:endParaRPr lang="en-US" sz="1150"/>
          </a:p>
        </p:txBody>
      </p:sp>
      <p:sp>
        <p:nvSpPr>
          <p:cNvPr id="59" name="Shape 56"/>
          <p:cNvSpPr/>
          <p:nvPr/>
        </p:nvSpPr>
        <p:spPr>
          <a:xfrm>
            <a:off x="8813800" y="2706624"/>
            <a:ext cx="54864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6EA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7"/>
          <p:cNvSpPr/>
          <p:nvPr/>
        </p:nvSpPr>
        <p:spPr>
          <a:xfrm>
            <a:off x="8868664" y="2761488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.24</a:t>
            </a:r>
            <a:endParaRPr lang="en-US" sz="1150"/>
          </a:p>
        </p:txBody>
      </p:sp>
      <p:sp>
        <p:nvSpPr>
          <p:cNvPr id="61" name="Shape 58"/>
          <p:cNvSpPr/>
          <p:nvPr/>
        </p:nvSpPr>
        <p:spPr>
          <a:xfrm>
            <a:off x="9362440" y="2706624"/>
            <a:ext cx="54864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6EA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59"/>
          <p:cNvSpPr/>
          <p:nvPr/>
        </p:nvSpPr>
        <p:spPr>
          <a:xfrm>
            <a:off x="9417304" y="2761488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.85</a:t>
            </a:r>
            <a:endParaRPr lang="en-US" sz="1150"/>
          </a:p>
        </p:txBody>
      </p:sp>
      <p:sp>
        <p:nvSpPr>
          <p:cNvPr id="63" name="Shape 60"/>
          <p:cNvSpPr/>
          <p:nvPr/>
        </p:nvSpPr>
        <p:spPr>
          <a:xfrm>
            <a:off x="9911080" y="2706624"/>
            <a:ext cx="45720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6EA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1"/>
          <p:cNvSpPr/>
          <p:nvPr/>
        </p:nvSpPr>
        <p:spPr>
          <a:xfrm>
            <a:off x="9965944" y="2761488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.31</a:t>
            </a:r>
            <a:endParaRPr lang="en-US" sz="1150"/>
          </a:p>
        </p:txBody>
      </p:sp>
      <p:sp>
        <p:nvSpPr>
          <p:cNvPr id="65" name="Shape 62"/>
          <p:cNvSpPr/>
          <p:nvPr/>
        </p:nvSpPr>
        <p:spPr>
          <a:xfrm>
            <a:off x="10368280" y="2706624"/>
            <a:ext cx="73152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6EA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3"/>
          <p:cNvSpPr/>
          <p:nvPr/>
        </p:nvSpPr>
        <p:spPr>
          <a:xfrm>
            <a:off x="10423144" y="2761488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.60</a:t>
            </a:r>
            <a:endParaRPr lang="en-US" sz="1150"/>
          </a:p>
        </p:txBody>
      </p:sp>
      <p:sp>
        <p:nvSpPr>
          <p:cNvPr id="67" name="Shape 64"/>
          <p:cNvSpPr/>
          <p:nvPr/>
        </p:nvSpPr>
        <p:spPr>
          <a:xfrm>
            <a:off x="6847840" y="2999232"/>
            <a:ext cx="146304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6EA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65"/>
          <p:cNvSpPr/>
          <p:nvPr/>
        </p:nvSpPr>
        <p:spPr>
          <a:xfrm>
            <a:off x="6902704" y="3054096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k-NN</a:t>
            </a:r>
            <a:endParaRPr lang="en-US" sz="1150"/>
          </a:p>
        </p:txBody>
      </p:sp>
      <p:sp>
        <p:nvSpPr>
          <p:cNvPr id="69" name="Shape 66"/>
          <p:cNvSpPr/>
          <p:nvPr/>
        </p:nvSpPr>
        <p:spPr>
          <a:xfrm>
            <a:off x="8310880" y="2999232"/>
            <a:ext cx="50292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6EA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Text 67"/>
          <p:cNvSpPr/>
          <p:nvPr/>
        </p:nvSpPr>
        <p:spPr>
          <a:xfrm>
            <a:off x="8365744" y="3054096"/>
            <a:ext cx="393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.59</a:t>
            </a:r>
            <a:endParaRPr lang="en-US" sz="1150"/>
          </a:p>
        </p:txBody>
      </p:sp>
      <p:sp>
        <p:nvSpPr>
          <p:cNvPr id="71" name="Shape 68"/>
          <p:cNvSpPr/>
          <p:nvPr/>
        </p:nvSpPr>
        <p:spPr>
          <a:xfrm>
            <a:off x="8813800" y="2999232"/>
            <a:ext cx="54864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6EA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Text 69"/>
          <p:cNvSpPr/>
          <p:nvPr/>
        </p:nvSpPr>
        <p:spPr>
          <a:xfrm>
            <a:off x="8868664" y="3054096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.34</a:t>
            </a:r>
            <a:endParaRPr lang="en-US" sz="1150"/>
          </a:p>
        </p:txBody>
      </p:sp>
      <p:sp>
        <p:nvSpPr>
          <p:cNvPr id="73" name="Shape 70"/>
          <p:cNvSpPr/>
          <p:nvPr/>
        </p:nvSpPr>
        <p:spPr>
          <a:xfrm>
            <a:off x="9362440" y="2999232"/>
            <a:ext cx="54864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6EA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Text 71"/>
          <p:cNvSpPr/>
          <p:nvPr/>
        </p:nvSpPr>
        <p:spPr>
          <a:xfrm>
            <a:off x="9417304" y="3054096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.71</a:t>
            </a:r>
            <a:endParaRPr lang="en-US" sz="1150"/>
          </a:p>
        </p:txBody>
      </p:sp>
      <p:sp>
        <p:nvSpPr>
          <p:cNvPr id="75" name="Shape 72"/>
          <p:cNvSpPr/>
          <p:nvPr/>
        </p:nvSpPr>
        <p:spPr>
          <a:xfrm>
            <a:off x="9911080" y="2999232"/>
            <a:ext cx="45720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6EA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Text 73"/>
          <p:cNvSpPr/>
          <p:nvPr/>
        </p:nvSpPr>
        <p:spPr>
          <a:xfrm>
            <a:off x="9965944" y="3054096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.34</a:t>
            </a:r>
            <a:endParaRPr lang="en-US" sz="1150"/>
          </a:p>
        </p:txBody>
      </p:sp>
      <p:sp>
        <p:nvSpPr>
          <p:cNvPr id="77" name="Shape 74"/>
          <p:cNvSpPr/>
          <p:nvPr/>
        </p:nvSpPr>
        <p:spPr>
          <a:xfrm>
            <a:off x="10368280" y="2999232"/>
            <a:ext cx="73152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E6EA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Shape 52">
            <a:extLst>
              <a:ext uri="{FF2B5EF4-FFF2-40B4-BE49-F238E27FC236}">
                <a16:creationId xmlns:a16="http://schemas.microsoft.com/office/drawing/2014/main" id="{5EE6EF68-8D12-897E-D808-2DFA84B06678}"/>
              </a:ext>
            </a:extLst>
          </p:cNvPr>
          <p:cNvSpPr/>
          <p:nvPr/>
        </p:nvSpPr>
        <p:spPr>
          <a:xfrm>
            <a:off x="1012217" y="4263542"/>
            <a:ext cx="5083630" cy="2338426"/>
          </a:xfrm>
          <a:prstGeom prst="roundRect">
            <a:avLst>
              <a:gd name="adj" fmla="val 3922"/>
            </a:avLst>
          </a:prstGeom>
          <a:solidFill>
            <a:schemeClr val="accent5">
              <a:lumMod val="20000"/>
              <a:lumOff val="80000"/>
            </a:schemeClr>
          </a:solidFill>
          <a:ln w="12700">
            <a:solidFill>
              <a:srgbClr val="E7F4E5"/>
            </a:solidFill>
            <a:prstDash val="solid"/>
          </a:ln>
        </p:spPr>
        <p:txBody>
          <a:bodyPr/>
          <a:lstStyle/>
          <a:p>
            <a:r>
              <a:rPr lang="en-US" sz="1600" b="1">
                <a:solidFill>
                  <a:srgbClr val="D95F5F"/>
                </a:solidFill>
              </a:rPr>
              <a:t>Confusion Matrix </a:t>
            </a:r>
          </a:p>
        </p:txBody>
      </p:sp>
      <p:sp>
        <p:nvSpPr>
          <p:cNvPr id="78" name="Text 75"/>
          <p:cNvSpPr/>
          <p:nvPr/>
        </p:nvSpPr>
        <p:spPr>
          <a:xfrm>
            <a:off x="10423144" y="3054096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.55</a:t>
            </a:r>
            <a:endParaRPr lang="en-US" sz="1150"/>
          </a:p>
        </p:txBody>
      </p:sp>
      <p:sp>
        <p:nvSpPr>
          <p:cNvPr id="79" name="Text 76"/>
          <p:cNvSpPr/>
          <p:nvPr/>
        </p:nvSpPr>
        <p:spPr>
          <a:xfrm>
            <a:off x="6847840" y="3858768"/>
            <a:ext cx="2697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F172A"/>
                </a:solidFill>
              </a:rPr>
              <a:t>Why not Random Forest?</a:t>
            </a:r>
            <a:endParaRPr lang="en-US" sz="1400"/>
          </a:p>
        </p:txBody>
      </p:sp>
      <p:sp>
        <p:nvSpPr>
          <p:cNvPr id="80" name="Text 77"/>
          <p:cNvSpPr/>
          <p:nvPr/>
        </p:nvSpPr>
        <p:spPr>
          <a:xfrm>
            <a:off x="6847840" y="4096512"/>
            <a:ext cx="4434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>
                <a:solidFill>
                  <a:srgbClr val="475569"/>
                </a:solidFill>
              </a:rPr>
              <a:t>It had slightly stronger accuracy and specificity, but its sensitivity (~0.07) was too low to reliably catch patients who were drifting toward churn.</a:t>
            </a:r>
            <a:endParaRPr lang="en-US" sz="1500"/>
          </a:p>
        </p:txBody>
      </p:sp>
      <p:sp>
        <p:nvSpPr>
          <p:cNvPr id="81" name="Shape 78"/>
          <p:cNvSpPr/>
          <p:nvPr/>
        </p:nvSpPr>
        <p:spPr>
          <a:xfrm>
            <a:off x="6902704" y="5110332"/>
            <a:ext cx="4471416" cy="1268259"/>
          </a:xfrm>
          <a:prstGeom prst="roundRect">
            <a:avLst>
              <a:gd name="adj" fmla="val 6410"/>
            </a:avLst>
          </a:prstGeom>
          <a:solidFill>
            <a:srgbClr val="FCE5E1"/>
          </a:solidFill>
          <a:ln w="12700">
            <a:solidFill>
              <a:srgbClr val="FCE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Text 79"/>
          <p:cNvSpPr/>
          <p:nvPr/>
        </p:nvSpPr>
        <p:spPr>
          <a:xfrm>
            <a:off x="7210334" y="5578129"/>
            <a:ext cx="366413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0F172A"/>
                </a:solidFill>
              </a:rPr>
              <a:t>Bottom line: </a:t>
            </a:r>
            <a:br>
              <a:rPr lang="en-US" sz="1600" b="1">
                <a:solidFill>
                  <a:srgbClr val="0F172A"/>
                </a:solidFill>
              </a:rPr>
            </a:br>
            <a:r>
              <a:rPr lang="en-US" sz="1600" b="1">
                <a:solidFill>
                  <a:srgbClr val="0F172A"/>
                </a:solidFill>
              </a:rPr>
              <a:t>Logistic Regression offered the best balance of discrimination, stability, and interpretability.</a:t>
            </a:r>
            <a:endParaRPr lang="en-US" sz="1600"/>
          </a:p>
        </p:txBody>
      </p:sp>
      <p:sp>
        <p:nvSpPr>
          <p:cNvPr id="83" name="Text 80"/>
          <p:cNvSpPr/>
          <p:nvPr/>
        </p:nvSpPr>
        <p:spPr>
          <a:xfrm>
            <a:off x="11602720" y="6492240"/>
            <a:ext cx="320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/>
          </a:p>
        </p:txBody>
      </p:sp>
      <p:graphicFrame>
        <p:nvGraphicFramePr>
          <p:cNvPr id="84" name="Table 83">
            <a:extLst>
              <a:ext uri="{FF2B5EF4-FFF2-40B4-BE49-F238E27FC236}">
                <a16:creationId xmlns:a16="http://schemas.microsoft.com/office/drawing/2014/main" id="{30CC8310-C336-7CD5-D061-6286892E9B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6170503"/>
              </p:ext>
            </p:extLst>
          </p:nvPr>
        </p:nvGraphicFramePr>
        <p:xfrm>
          <a:off x="1185672" y="4731051"/>
          <a:ext cx="4922520" cy="941004"/>
        </p:xfrm>
        <a:graphic>
          <a:graphicData uri="http://schemas.openxmlformats.org/drawingml/2006/table">
            <a:tbl>
              <a:tblPr/>
              <a:tblGrid>
                <a:gridCol w="1640840">
                  <a:extLst>
                    <a:ext uri="{9D8B030D-6E8A-4147-A177-3AD203B41FA5}">
                      <a16:colId xmlns:a16="http://schemas.microsoft.com/office/drawing/2014/main" val="3523018092"/>
                    </a:ext>
                  </a:extLst>
                </a:gridCol>
                <a:gridCol w="1640840">
                  <a:extLst>
                    <a:ext uri="{9D8B030D-6E8A-4147-A177-3AD203B41FA5}">
                      <a16:colId xmlns:a16="http://schemas.microsoft.com/office/drawing/2014/main" val="1383987758"/>
                    </a:ext>
                  </a:extLst>
                </a:gridCol>
                <a:gridCol w="1640840">
                  <a:extLst>
                    <a:ext uri="{9D8B030D-6E8A-4147-A177-3AD203B41FA5}">
                      <a16:colId xmlns:a16="http://schemas.microsoft.com/office/drawing/2014/main" val="5867077"/>
                    </a:ext>
                  </a:extLst>
                </a:gridCol>
              </a:tblGrid>
              <a:tr h="313668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200" i="1"/>
                        <a:t>(Random Forest)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Predicted Churn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Predicted Retained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0519416"/>
                  </a:ext>
                </a:extLst>
              </a:tr>
              <a:tr h="3136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/>
                        <a:t>Actual Churn</a:t>
                      </a:r>
                      <a:endParaRPr lang="en-US" sz="12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/>
                        <a:t>48 (TP)</a:t>
                      </a:r>
                      <a:endParaRPr lang="en-US" sz="12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/>
                        <a:t>635 (FN)</a:t>
                      </a:r>
                      <a:endParaRPr lang="en-US" sz="12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7411930"/>
                  </a:ext>
                </a:extLst>
              </a:tr>
              <a:tr h="3136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/>
                        <a:t>Actual Retained</a:t>
                      </a:r>
                      <a:endParaRPr lang="en-US" sz="12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/>
                        <a:t>16 (FP)</a:t>
                      </a:r>
                      <a:endParaRPr lang="en-US" sz="12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/>
                        <a:t>301 (TN)</a:t>
                      </a:r>
                      <a:endParaRPr lang="en-US" sz="12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7749783"/>
                  </a:ext>
                </a:extLst>
              </a:tr>
            </a:tbl>
          </a:graphicData>
        </a:graphic>
      </p:graphicFrame>
      <p:graphicFrame>
        <p:nvGraphicFramePr>
          <p:cNvPr id="85" name="Table 84">
            <a:extLst>
              <a:ext uri="{FF2B5EF4-FFF2-40B4-BE49-F238E27FC236}">
                <a16:creationId xmlns:a16="http://schemas.microsoft.com/office/drawing/2014/main" id="{831BBD3C-860D-0ADB-D431-55C0624FA2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3066101"/>
              </p:ext>
            </p:extLst>
          </p:nvPr>
        </p:nvGraphicFramePr>
        <p:xfrm>
          <a:off x="1306576" y="5736183"/>
          <a:ext cx="4789425" cy="822960"/>
        </p:xfrm>
        <a:graphic>
          <a:graphicData uri="http://schemas.openxmlformats.org/drawingml/2006/table">
            <a:tbl>
              <a:tblPr/>
              <a:tblGrid>
                <a:gridCol w="1596475">
                  <a:extLst>
                    <a:ext uri="{9D8B030D-6E8A-4147-A177-3AD203B41FA5}">
                      <a16:colId xmlns:a16="http://schemas.microsoft.com/office/drawing/2014/main" val="141408379"/>
                    </a:ext>
                  </a:extLst>
                </a:gridCol>
                <a:gridCol w="1596475">
                  <a:extLst>
                    <a:ext uri="{9D8B030D-6E8A-4147-A177-3AD203B41FA5}">
                      <a16:colId xmlns:a16="http://schemas.microsoft.com/office/drawing/2014/main" val="1510030738"/>
                    </a:ext>
                  </a:extLst>
                </a:gridCol>
                <a:gridCol w="1596475">
                  <a:extLst>
                    <a:ext uri="{9D8B030D-6E8A-4147-A177-3AD203B41FA5}">
                      <a16:colId xmlns:a16="http://schemas.microsoft.com/office/drawing/2014/main" val="70484091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200" i="1"/>
                        <a:t>(Log Regression)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Predicted Churn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Predicted Retained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71228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/>
                        <a:t>Actual Churn</a:t>
                      </a:r>
                      <a:endParaRPr lang="en-US" sz="12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/>
                        <a:t>143 (TP)</a:t>
                      </a:r>
                      <a:endParaRPr lang="en-US" sz="12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/>
                        <a:t>540 (FN)</a:t>
                      </a:r>
                      <a:endParaRPr lang="en-US" sz="12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85727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/>
                        <a:t>Actual Retained</a:t>
                      </a:r>
                      <a:endParaRPr lang="en-US" sz="12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/>
                        <a:t>32 (FP)</a:t>
                      </a:r>
                      <a:endParaRPr lang="en-US" sz="12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/>
                        <a:t>285 (TN)</a:t>
                      </a:r>
                      <a:endParaRPr lang="en-US" sz="12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1180146"/>
                  </a:ext>
                </a:extLst>
              </a:tr>
            </a:tbl>
          </a:graphicData>
        </a:graphic>
      </p:graphicFrame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D5B16348-EC65-E539-5C2E-9CCDFA107C58}"/>
              </a:ext>
            </a:extLst>
          </p:cNvPr>
          <p:cNvCxnSpPr/>
          <p:nvPr/>
        </p:nvCxnSpPr>
        <p:spPr>
          <a:xfrm>
            <a:off x="3566523" y="5684520"/>
            <a:ext cx="16383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Rectangle: Rounded Corners 88">
            <a:extLst>
              <a:ext uri="{FF2B5EF4-FFF2-40B4-BE49-F238E27FC236}">
                <a16:creationId xmlns:a16="http://schemas.microsoft.com/office/drawing/2014/main" id="{86DCD043-14BA-B85A-F10F-74E890C156A4}"/>
              </a:ext>
            </a:extLst>
          </p:cNvPr>
          <p:cNvSpPr/>
          <p:nvPr/>
        </p:nvSpPr>
        <p:spPr>
          <a:xfrm>
            <a:off x="8964934" y="2181368"/>
            <a:ext cx="274320" cy="457200"/>
          </a:xfrm>
          <a:prstGeom prst="roundRect">
            <a:avLst/>
          </a:prstGeom>
          <a:noFill/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0" name="Picture 89">
            <a:extLst>
              <a:ext uri="{FF2B5EF4-FFF2-40B4-BE49-F238E27FC236}">
                <a16:creationId xmlns:a16="http://schemas.microsoft.com/office/drawing/2014/main" id="{2621C809-23A1-A997-C1B3-F6281ACAA11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657" r="1686" b="2890"/>
          <a:stretch>
            <a:fillRect/>
          </a:stretch>
        </p:blipFill>
        <p:spPr>
          <a:xfrm>
            <a:off x="1205697" y="1298449"/>
            <a:ext cx="4595664" cy="2932134"/>
          </a:xfrm>
          <a:prstGeom prst="rect">
            <a:avLst/>
          </a:prstGeom>
        </p:spPr>
      </p:pic>
      <p:sp>
        <p:nvSpPr>
          <p:cNvPr id="94" name="Shape 3">
            <a:extLst>
              <a:ext uri="{FF2B5EF4-FFF2-40B4-BE49-F238E27FC236}">
                <a16:creationId xmlns:a16="http://schemas.microsoft.com/office/drawing/2014/main" id="{2FBC2ACB-922F-C749-8821-0C1245282BE1}"/>
              </a:ext>
            </a:extLst>
          </p:cNvPr>
          <p:cNvSpPr/>
          <p:nvPr/>
        </p:nvSpPr>
        <p:spPr>
          <a:xfrm>
            <a:off x="1391920" y="4826508"/>
            <a:ext cx="164592" cy="164592"/>
          </a:xfrm>
          <a:prstGeom prst="ellipse">
            <a:avLst/>
          </a:prstGeom>
          <a:solidFill>
            <a:srgbClr val="7030A0"/>
          </a:solidFill>
          <a:ln w="12700">
            <a:solidFill>
              <a:srgbClr val="2B8C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5" name="Shape 3">
            <a:extLst>
              <a:ext uri="{FF2B5EF4-FFF2-40B4-BE49-F238E27FC236}">
                <a16:creationId xmlns:a16="http://schemas.microsoft.com/office/drawing/2014/main" id="{41CF6C6D-EB16-04A0-48B9-FA936F332C63}"/>
              </a:ext>
            </a:extLst>
          </p:cNvPr>
          <p:cNvSpPr/>
          <p:nvPr/>
        </p:nvSpPr>
        <p:spPr>
          <a:xfrm>
            <a:off x="1430020" y="5817108"/>
            <a:ext cx="164592" cy="164592"/>
          </a:xfrm>
          <a:prstGeom prst="ellipse">
            <a:avLst/>
          </a:prstGeom>
          <a:solidFill>
            <a:schemeClr val="accent6">
              <a:lumMod val="75000"/>
            </a:schemeClr>
          </a:solidFill>
          <a:ln w="12700">
            <a:solidFill>
              <a:srgbClr val="2B8C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6" name="Shape 3">
            <a:extLst>
              <a:ext uri="{FF2B5EF4-FFF2-40B4-BE49-F238E27FC236}">
                <a16:creationId xmlns:a16="http://schemas.microsoft.com/office/drawing/2014/main" id="{DF3296BC-4586-962C-9B54-267ACF63D7DE}"/>
              </a:ext>
            </a:extLst>
          </p:cNvPr>
          <p:cNvSpPr/>
          <p:nvPr/>
        </p:nvSpPr>
        <p:spPr>
          <a:xfrm>
            <a:off x="7972552" y="2194560"/>
            <a:ext cx="164592" cy="164592"/>
          </a:xfrm>
          <a:prstGeom prst="ellipse">
            <a:avLst/>
          </a:prstGeom>
          <a:solidFill>
            <a:srgbClr val="7030A0"/>
          </a:solidFill>
          <a:ln w="12700">
            <a:solidFill>
              <a:srgbClr val="2B8C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7" name="Shape 3">
            <a:extLst>
              <a:ext uri="{FF2B5EF4-FFF2-40B4-BE49-F238E27FC236}">
                <a16:creationId xmlns:a16="http://schemas.microsoft.com/office/drawing/2014/main" id="{562EA40D-19BB-D6C1-4442-F9DC926B4E36}"/>
              </a:ext>
            </a:extLst>
          </p:cNvPr>
          <p:cNvSpPr/>
          <p:nvPr/>
        </p:nvSpPr>
        <p:spPr>
          <a:xfrm>
            <a:off x="7973224" y="2473564"/>
            <a:ext cx="164592" cy="164592"/>
          </a:xfrm>
          <a:prstGeom prst="ellipse">
            <a:avLst/>
          </a:prstGeom>
          <a:solidFill>
            <a:schemeClr val="accent6">
              <a:lumMod val="75000"/>
            </a:schemeClr>
          </a:solidFill>
          <a:ln w="12700">
            <a:solidFill>
              <a:srgbClr val="2B8C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7B092DBA-25B6-5C01-C0A7-F2CE657692D5}"/>
              </a:ext>
            </a:extLst>
          </p:cNvPr>
          <p:cNvCxnSpPr>
            <a:endCxn id="67" idx="3"/>
          </p:cNvCxnSpPr>
          <p:nvPr/>
        </p:nvCxnSpPr>
        <p:spPr>
          <a:xfrm>
            <a:off x="7990318" y="3145536"/>
            <a:ext cx="196553" cy="0"/>
          </a:xfrm>
          <a:prstGeom prst="line">
            <a:avLst/>
          </a:prstGeom>
          <a:ln w="28575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48B4B670-81D6-0A34-93E6-FE800EC2CDE7}"/>
              </a:ext>
            </a:extLst>
          </p:cNvPr>
          <p:cNvCxnSpPr/>
          <p:nvPr/>
        </p:nvCxnSpPr>
        <p:spPr>
          <a:xfrm>
            <a:off x="7981773" y="2852928"/>
            <a:ext cx="196553" cy="0"/>
          </a:xfrm>
          <a:prstGeom prst="line">
            <a:avLst/>
          </a:prstGeom>
          <a:ln w="28575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7D4CD60D-7EF2-F916-C28D-6EE812B743F9}"/>
              </a:ext>
            </a:extLst>
          </p:cNvPr>
          <p:cNvSpPr txBox="1"/>
          <p:nvPr/>
        </p:nvSpPr>
        <p:spPr>
          <a:xfrm>
            <a:off x="5803497" y="4267958"/>
            <a:ext cx="284673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200">
                <a:solidFill>
                  <a:srgbClr val="9CC3E5"/>
                </a:solidFill>
                <a:cs typeface="Arial"/>
              </a:rPr>
              <a:t>1</a:t>
            </a:r>
            <a:endParaRPr lang="en-US" sz="1000">
              <a:solidFill>
                <a:srgbClr val="9CC3E5"/>
              </a:solidFill>
              <a:cs typeface="Arial"/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9EB370DB-356C-4B1D-A010-40A83A3CC599}"/>
              </a:ext>
            </a:extLst>
          </p:cNvPr>
          <p:cNvSpPr txBox="1"/>
          <p:nvPr/>
        </p:nvSpPr>
        <p:spPr>
          <a:xfrm>
            <a:off x="11500103" y="1398633"/>
            <a:ext cx="284673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000">
                <a:solidFill>
                  <a:srgbClr val="F4B183"/>
                </a:solidFill>
                <a:cs typeface="Arial"/>
              </a:rPr>
              <a:t>2</a:t>
            </a:r>
            <a:endParaRPr lang="en-US" sz="1000">
              <a:solidFill>
                <a:srgbClr val="F4B183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B8C85"/>
          </a:solidFill>
          <a:ln w="12700">
            <a:solidFill>
              <a:srgbClr val="2B8C8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13232" y="256032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>
                <a:solidFill>
                  <a:srgbClr val="2B8C85"/>
                </a:solidFill>
                <a:latin typeface="Arial"/>
                <a:ea typeface="Arial" pitchFamily="34" charset="-122"/>
                <a:cs typeface="Arial"/>
              </a:rPr>
              <a:t>Patient churn - bs</a:t>
            </a:r>
            <a:endParaRPr lang="en-US" sz="1000"/>
          </a:p>
        </p:txBody>
      </p:sp>
      <p:sp>
        <p:nvSpPr>
          <p:cNvPr id="4" name="Shape 2"/>
          <p:cNvSpPr/>
          <p:nvPr/>
        </p:nvSpPr>
        <p:spPr>
          <a:xfrm>
            <a:off x="8503920" y="374904"/>
            <a:ext cx="2304288" cy="0"/>
          </a:xfrm>
          <a:prstGeom prst="line">
            <a:avLst/>
          </a:prstGeom>
          <a:noFill/>
          <a:ln w="12700">
            <a:solidFill>
              <a:srgbClr val="E6EA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503920" y="292608"/>
            <a:ext cx="164592" cy="164592"/>
          </a:xfrm>
          <a:prstGeom prst="ellipse">
            <a:avLst/>
          </a:prstGeom>
          <a:solidFill>
            <a:srgbClr val="2B8C85"/>
          </a:solidFill>
          <a:ln w="12700">
            <a:solidFill>
              <a:srgbClr val="2B8C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339328" y="475488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</a:t>
            </a:r>
            <a:endParaRPr lang="en-US" sz="750"/>
          </a:p>
        </p:txBody>
      </p:sp>
      <p:sp>
        <p:nvSpPr>
          <p:cNvPr id="7" name="Shape 5"/>
          <p:cNvSpPr/>
          <p:nvPr/>
        </p:nvSpPr>
        <p:spPr>
          <a:xfrm>
            <a:off x="9079992" y="292608"/>
            <a:ext cx="164592" cy="164592"/>
          </a:xfrm>
          <a:prstGeom prst="ellipse">
            <a:avLst/>
          </a:prstGeom>
          <a:solidFill>
            <a:srgbClr val="2B8C85"/>
          </a:solidFill>
          <a:ln w="12700">
            <a:solidFill>
              <a:srgbClr val="2B8C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915400" y="475488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Signals</a:t>
            </a:r>
            <a:endParaRPr lang="en-US" sz="750"/>
          </a:p>
        </p:txBody>
      </p:sp>
      <p:sp>
        <p:nvSpPr>
          <p:cNvPr id="9" name="Shape 7"/>
          <p:cNvSpPr/>
          <p:nvPr/>
        </p:nvSpPr>
        <p:spPr>
          <a:xfrm>
            <a:off x="9656064" y="292608"/>
            <a:ext cx="164592" cy="164592"/>
          </a:xfrm>
          <a:prstGeom prst="ellipse">
            <a:avLst/>
          </a:prstGeom>
          <a:solidFill>
            <a:srgbClr val="2B8C85"/>
          </a:solidFill>
          <a:ln w="12700">
            <a:solidFill>
              <a:srgbClr val="2B8C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491472" y="475488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Prediction</a:t>
            </a:r>
            <a:endParaRPr lang="en-US" sz="750"/>
          </a:p>
        </p:txBody>
      </p:sp>
      <p:sp>
        <p:nvSpPr>
          <p:cNvPr id="11" name="Shape 9"/>
          <p:cNvSpPr/>
          <p:nvPr/>
        </p:nvSpPr>
        <p:spPr>
          <a:xfrm>
            <a:off x="10232136" y="292608"/>
            <a:ext cx="164592" cy="164592"/>
          </a:xfrm>
          <a:prstGeom prst="ellipse">
            <a:avLst/>
          </a:prstGeom>
          <a:solidFill>
            <a:srgbClr val="D95F5F"/>
          </a:solidFill>
          <a:ln w="12700">
            <a:solidFill>
              <a:srgbClr val="D95F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0067544" y="475488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Timing</a:t>
            </a:r>
            <a:endParaRPr lang="en-US" sz="750"/>
          </a:p>
        </p:txBody>
      </p:sp>
      <p:sp>
        <p:nvSpPr>
          <p:cNvPr id="13" name="Shape 11"/>
          <p:cNvSpPr/>
          <p:nvPr/>
        </p:nvSpPr>
        <p:spPr>
          <a:xfrm>
            <a:off x="10808208" y="29260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6EA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0643616" y="475488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</a:t>
            </a:r>
            <a:endParaRPr lang="en-US" sz="750"/>
          </a:p>
        </p:txBody>
      </p:sp>
      <p:sp>
        <p:nvSpPr>
          <p:cNvPr id="15" name="Text 13"/>
          <p:cNvSpPr/>
          <p:nvPr/>
        </p:nvSpPr>
        <p:spPr>
          <a:xfrm>
            <a:off x="813874" y="564283"/>
            <a:ext cx="8617788" cy="492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500" b="1">
                <a:solidFill>
                  <a:srgbClr val="0F172A"/>
                </a:solidFill>
                <a:cs typeface="Arial"/>
              </a:rPr>
              <a:t>Knowing when is much better : Cox Proportional Hazard </a:t>
            </a:r>
          </a:p>
        </p:txBody>
      </p:sp>
      <p:sp>
        <p:nvSpPr>
          <p:cNvPr id="16" name="Shape 14"/>
          <p:cNvSpPr/>
          <p:nvPr/>
        </p:nvSpPr>
        <p:spPr>
          <a:xfrm>
            <a:off x="713232" y="1170432"/>
            <a:ext cx="10789920" cy="0"/>
          </a:xfrm>
          <a:prstGeom prst="line">
            <a:avLst/>
          </a:prstGeom>
          <a:noFill/>
          <a:ln w="12700">
            <a:solidFill>
              <a:srgbClr val="E6EA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786384" y="1390079"/>
            <a:ext cx="4713790" cy="2215241"/>
          </a:xfrm>
          <a:prstGeom prst="roundRect">
            <a:avLst>
              <a:gd name="adj" fmla="val 2500"/>
            </a:avLst>
          </a:prstGeom>
          <a:solidFill>
            <a:srgbClr val="DCEFEB"/>
          </a:solidFill>
          <a:ln w="12700">
            <a:solidFill>
              <a:srgbClr val="DCEF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005840" y="1605434"/>
            <a:ext cx="435937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>
                <a:solidFill>
                  <a:srgbClr val="0F172A"/>
                </a:solidFill>
              </a:rPr>
              <a:t>Prediction answers “who might leave?”</a:t>
            </a:r>
            <a:endParaRPr lang="en-US"/>
          </a:p>
          <a:p>
            <a:pPr marL="0" indent="0">
              <a:buNone/>
            </a:pPr>
            <a:r>
              <a:rPr lang="en-US" b="1">
                <a:solidFill>
                  <a:srgbClr val="0F172A"/>
                </a:solidFill>
              </a:rPr>
              <a:t>Survival analysis answers “when does risk rise?”</a:t>
            </a:r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11475720" y="6492240"/>
            <a:ext cx="320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D5E8579-B12B-9BCF-A516-B857E9D227ED}"/>
              </a:ext>
            </a:extLst>
          </p:cNvPr>
          <p:cNvSpPr txBox="1"/>
          <p:nvPr/>
        </p:nvSpPr>
        <p:spPr>
          <a:xfrm>
            <a:off x="1262444" y="2779002"/>
            <a:ext cx="4202280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>
                <a:latin typeface="Corbel"/>
              </a:rPr>
              <a:t>Model time to event data </a:t>
            </a:r>
          </a:p>
          <a:p>
            <a:r>
              <a:rPr lang="en-US" sz="1600">
                <a:latin typeface="Corbel"/>
              </a:rPr>
              <a:t>Assess how covariates affect risk over time</a:t>
            </a:r>
            <a:endParaRPr lang="en-US" sz="160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48E2AF4-1CCE-7801-B79D-871417476215}"/>
              </a:ext>
            </a:extLst>
          </p:cNvPr>
          <p:cNvSpPr txBox="1"/>
          <p:nvPr/>
        </p:nvSpPr>
        <p:spPr>
          <a:xfrm>
            <a:off x="6120653" y="4051983"/>
            <a:ext cx="5520237" cy="192024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6E54753-A6FA-05D1-1084-D80D75759F70}"/>
              </a:ext>
            </a:extLst>
          </p:cNvPr>
          <p:cNvSpPr txBox="1"/>
          <p:nvPr/>
        </p:nvSpPr>
        <p:spPr>
          <a:xfrm>
            <a:off x="6453239" y="4175663"/>
            <a:ext cx="5028549" cy="13234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>
                <a:solidFill>
                  <a:schemeClr val="accent2">
                    <a:lumMod val="50000"/>
                  </a:schemeClr>
                </a:solidFill>
              </a:rPr>
              <a:t>Key Assumption</a:t>
            </a:r>
            <a:br>
              <a:rPr lang="en-US" sz="2000" b="1">
                <a:solidFill>
                  <a:schemeClr val="accent2">
                    <a:lumMod val="50000"/>
                  </a:schemeClr>
                </a:solidFill>
              </a:rPr>
            </a:br>
            <a:endParaRPr lang="en-US" sz="2000" b="1">
              <a:solidFill>
                <a:schemeClr val="accent2">
                  <a:lumMod val="50000"/>
                </a:schemeClr>
              </a:solidFill>
            </a:endParaRPr>
          </a:p>
          <a:p>
            <a:r>
              <a:rPr lang="en-US" sz="2000">
                <a:latin typeface="Corbel"/>
              </a:rPr>
              <a:t>Proportional hazard </a:t>
            </a:r>
          </a:p>
          <a:p>
            <a:r>
              <a:rPr lang="en-US" sz="2000">
                <a:latin typeface="Corbel"/>
              </a:rPr>
              <a:t>h1(t)/h2(t) = constant over time</a:t>
            </a:r>
            <a:endParaRPr lang="en-US" sz="200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A72F5F8-73B6-3952-046B-8E07C3B900A0}"/>
              </a:ext>
            </a:extLst>
          </p:cNvPr>
          <p:cNvSpPr txBox="1"/>
          <p:nvPr/>
        </p:nvSpPr>
        <p:spPr>
          <a:xfrm>
            <a:off x="6111709" y="1390079"/>
            <a:ext cx="5507856" cy="225276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3B0AE36-04B7-CD1C-A6C0-BA36ACA51488}"/>
              </a:ext>
            </a:extLst>
          </p:cNvPr>
          <p:cNvSpPr txBox="1"/>
          <p:nvPr/>
        </p:nvSpPr>
        <p:spPr>
          <a:xfrm>
            <a:off x="6356736" y="1627632"/>
            <a:ext cx="4789800" cy="163121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solidFill>
                  <a:srgbClr val="D95F5F"/>
                </a:solidFill>
              </a:rPr>
              <a:t>Function</a:t>
            </a:r>
            <a:br>
              <a:rPr lang="en-US" sz="2000">
                <a:latin typeface="Corbel"/>
              </a:rPr>
            </a:br>
            <a:endParaRPr lang="en-US" sz="2000">
              <a:latin typeface="Corbel"/>
            </a:endParaRPr>
          </a:p>
          <a:p>
            <a:r>
              <a:rPr lang="en-US" sz="2000">
                <a:latin typeface="Corbel"/>
              </a:rPr>
              <a:t>h(</a:t>
            </a:r>
            <a:r>
              <a:rPr lang="en-US" sz="2000" err="1">
                <a:latin typeface="Corbel"/>
              </a:rPr>
              <a:t>t∣X</a:t>
            </a:r>
            <a:r>
              <a:rPr lang="en-US" sz="2000">
                <a:latin typeface="Corbel"/>
              </a:rPr>
              <a:t>)=h0 (t)exp(β1 X1 +⋯+βn </a:t>
            </a:r>
            <a:r>
              <a:rPr lang="en-US" sz="2000" err="1">
                <a:latin typeface="Corbel"/>
              </a:rPr>
              <a:t>Xn</a:t>
            </a:r>
            <a:r>
              <a:rPr lang="en-US" sz="2000">
                <a:latin typeface="Corbel"/>
              </a:rPr>
              <a:t> )</a:t>
            </a:r>
          </a:p>
          <a:p>
            <a:r>
              <a:rPr lang="en-US" sz="2000">
                <a:latin typeface="Corbel"/>
              </a:rPr>
              <a:t>Or</a:t>
            </a:r>
          </a:p>
          <a:p>
            <a:r>
              <a:rPr lang="en-US" sz="2000">
                <a:latin typeface="Corbel"/>
              </a:rPr>
              <a:t>Log{h(t)}=log{h0 (t)}+β1 X1 +⋯+βn </a:t>
            </a:r>
            <a:r>
              <a:rPr lang="en-US" sz="2000" err="1">
                <a:latin typeface="Corbel"/>
              </a:rPr>
              <a:t>Xn</a:t>
            </a:r>
            <a:endParaRPr lang="en-US" sz="160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BB0DB9D-CB9E-79AA-84F6-19BE7935716D}"/>
              </a:ext>
            </a:extLst>
          </p:cNvPr>
          <p:cNvSpPr txBox="1"/>
          <p:nvPr/>
        </p:nvSpPr>
        <p:spPr>
          <a:xfrm>
            <a:off x="715772" y="4072503"/>
            <a:ext cx="4748952" cy="195084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9A50FA8-2886-0478-B7E4-ED872C9744B1}"/>
              </a:ext>
            </a:extLst>
          </p:cNvPr>
          <p:cNvSpPr txBox="1"/>
          <p:nvPr/>
        </p:nvSpPr>
        <p:spPr>
          <a:xfrm>
            <a:off x="914400" y="4169058"/>
            <a:ext cx="4450814" cy="163121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>
                <a:solidFill>
                  <a:schemeClr val="accent2">
                    <a:lumMod val="50000"/>
                  </a:schemeClr>
                </a:solidFill>
              </a:rPr>
              <a:t>Components</a:t>
            </a:r>
            <a:br>
              <a:rPr lang="en-US" sz="2000" b="1">
                <a:solidFill>
                  <a:schemeClr val="accent2">
                    <a:lumMod val="50000"/>
                  </a:schemeClr>
                </a:solidFill>
                <a:latin typeface="Corbel"/>
              </a:rPr>
            </a:br>
            <a:endParaRPr lang="en-US" sz="2000">
              <a:latin typeface="Corbel"/>
            </a:endParaRPr>
          </a:p>
          <a:p>
            <a:r>
              <a:rPr lang="en-US" sz="2000">
                <a:latin typeface="Corbel"/>
              </a:rPr>
              <a:t>h(t): risk of leaving at time t</a:t>
            </a:r>
          </a:p>
          <a:p>
            <a:r>
              <a:rPr lang="en-US" sz="2000">
                <a:latin typeface="Corbel"/>
              </a:rPr>
              <a:t>h0 (t): baseline risk </a:t>
            </a:r>
          </a:p>
          <a:p>
            <a:r>
              <a:rPr lang="en-US" sz="2000">
                <a:latin typeface="Corbel"/>
              </a:rPr>
              <a:t> Exp(β): Hazard Ratio (HR)</a:t>
            </a:r>
            <a:endParaRPr lang="en-US" sz="20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292F776-6F9E-6FB6-F4C9-D04103F724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BA41D34-477A-6627-8702-E95196003A91}"/>
              </a:ext>
            </a:extLst>
          </p:cNvPr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B8C85"/>
          </a:solidFill>
          <a:ln w="12700">
            <a:solidFill>
              <a:srgbClr val="2B8C8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95140EC-CA03-9D38-41C4-B8C5902BDB0D}"/>
              </a:ext>
            </a:extLst>
          </p:cNvPr>
          <p:cNvSpPr/>
          <p:nvPr/>
        </p:nvSpPr>
        <p:spPr>
          <a:xfrm>
            <a:off x="713232" y="256032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>
                <a:solidFill>
                  <a:srgbClr val="2B8C85"/>
                </a:solidFill>
                <a:latin typeface="Arial"/>
                <a:ea typeface="Arial" pitchFamily="34" charset="-122"/>
                <a:cs typeface="Arial"/>
              </a:rPr>
              <a:t>Patient churn - bs</a:t>
            </a:r>
            <a:endParaRPr lang="en-US" sz="100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EDCB009E-DDD4-1866-1D9E-C3578E0A957B}"/>
              </a:ext>
            </a:extLst>
          </p:cNvPr>
          <p:cNvSpPr/>
          <p:nvPr/>
        </p:nvSpPr>
        <p:spPr>
          <a:xfrm>
            <a:off x="8503920" y="374904"/>
            <a:ext cx="2304288" cy="0"/>
          </a:xfrm>
          <a:prstGeom prst="line">
            <a:avLst/>
          </a:prstGeom>
          <a:noFill/>
          <a:ln w="12700">
            <a:solidFill>
              <a:srgbClr val="E6EA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E9063E3D-A1FA-C1EC-DB31-25EB940FF9D8}"/>
              </a:ext>
            </a:extLst>
          </p:cNvPr>
          <p:cNvSpPr/>
          <p:nvPr/>
        </p:nvSpPr>
        <p:spPr>
          <a:xfrm>
            <a:off x="8503920" y="292608"/>
            <a:ext cx="164592" cy="164592"/>
          </a:xfrm>
          <a:prstGeom prst="ellipse">
            <a:avLst/>
          </a:prstGeom>
          <a:solidFill>
            <a:srgbClr val="2B8C85"/>
          </a:solidFill>
          <a:ln w="12700">
            <a:solidFill>
              <a:srgbClr val="2B8C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44A47CCD-0816-27BB-84F0-E7155EEF1448}"/>
              </a:ext>
            </a:extLst>
          </p:cNvPr>
          <p:cNvSpPr/>
          <p:nvPr/>
        </p:nvSpPr>
        <p:spPr>
          <a:xfrm>
            <a:off x="8339328" y="475488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</a:t>
            </a:r>
            <a:endParaRPr lang="en-US" sz="75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6D6D85DD-260E-4BD4-FF04-A6616310DCFC}"/>
              </a:ext>
            </a:extLst>
          </p:cNvPr>
          <p:cNvSpPr/>
          <p:nvPr/>
        </p:nvSpPr>
        <p:spPr>
          <a:xfrm>
            <a:off x="9079992" y="292608"/>
            <a:ext cx="164592" cy="164592"/>
          </a:xfrm>
          <a:prstGeom prst="ellipse">
            <a:avLst/>
          </a:prstGeom>
          <a:solidFill>
            <a:srgbClr val="2B8C85"/>
          </a:solidFill>
          <a:ln w="12700">
            <a:solidFill>
              <a:srgbClr val="2B8C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8D18ED3D-1AE0-C710-3CF8-30620BD2AB09}"/>
              </a:ext>
            </a:extLst>
          </p:cNvPr>
          <p:cNvSpPr/>
          <p:nvPr/>
        </p:nvSpPr>
        <p:spPr>
          <a:xfrm>
            <a:off x="8915400" y="475488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Signals</a:t>
            </a:r>
            <a:endParaRPr lang="en-US" sz="75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C6009B38-8CF3-BEDB-907D-2DBAB0DFE636}"/>
              </a:ext>
            </a:extLst>
          </p:cNvPr>
          <p:cNvSpPr/>
          <p:nvPr/>
        </p:nvSpPr>
        <p:spPr>
          <a:xfrm>
            <a:off x="9656064" y="292608"/>
            <a:ext cx="164592" cy="164592"/>
          </a:xfrm>
          <a:prstGeom prst="ellipse">
            <a:avLst/>
          </a:prstGeom>
          <a:solidFill>
            <a:srgbClr val="2B8C85"/>
          </a:solidFill>
          <a:ln w="12700">
            <a:solidFill>
              <a:srgbClr val="2B8C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A5E1F96F-9D32-F3FD-2E1A-D613A76E632F}"/>
              </a:ext>
            </a:extLst>
          </p:cNvPr>
          <p:cNvSpPr/>
          <p:nvPr/>
        </p:nvSpPr>
        <p:spPr>
          <a:xfrm>
            <a:off x="9491472" y="475488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Prediction</a:t>
            </a:r>
            <a:endParaRPr lang="en-US" sz="75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4EA1AA97-3A56-E19E-0CEE-5C111BA86A81}"/>
              </a:ext>
            </a:extLst>
          </p:cNvPr>
          <p:cNvSpPr/>
          <p:nvPr/>
        </p:nvSpPr>
        <p:spPr>
          <a:xfrm>
            <a:off x="10232136" y="292608"/>
            <a:ext cx="164592" cy="164592"/>
          </a:xfrm>
          <a:prstGeom prst="ellipse">
            <a:avLst/>
          </a:prstGeom>
          <a:solidFill>
            <a:srgbClr val="D95F5F"/>
          </a:solidFill>
          <a:ln w="12700">
            <a:solidFill>
              <a:srgbClr val="D95F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B867E666-BB1F-B785-BA8A-1041AE53F954}"/>
              </a:ext>
            </a:extLst>
          </p:cNvPr>
          <p:cNvSpPr/>
          <p:nvPr/>
        </p:nvSpPr>
        <p:spPr>
          <a:xfrm>
            <a:off x="10067544" y="475488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Timing</a:t>
            </a:r>
            <a:endParaRPr lang="en-US" sz="75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408C4054-A607-B4C1-0397-A26ADE8BFF9C}"/>
              </a:ext>
            </a:extLst>
          </p:cNvPr>
          <p:cNvSpPr/>
          <p:nvPr/>
        </p:nvSpPr>
        <p:spPr>
          <a:xfrm>
            <a:off x="10808208" y="29260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6EA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78BB92E6-F513-41AE-B82A-06DE6B694DAF}"/>
              </a:ext>
            </a:extLst>
          </p:cNvPr>
          <p:cNvSpPr/>
          <p:nvPr/>
        </p:nvSpPr>
        <p:spPr>
          <a:xfrm>
            <a:off x="10643616" y="475488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</a:t>
            </a:r>
            <a:endParaRPr lang="en-US" sz="75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2275846C-BDCA-9EA7-C6A6-868AB671DAC1}"/>
              </a:ext>
            </a:extLst>
          </p:cNvPr>
          <p:cNvSpPr/>
          <p:nvPr/>
        </p:nvSpPr>
        <p:spPr>
          <a:xfrm>
            <a:off x="713232" y="621792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500" b="1">
                <a:solidFill>
                  <a:srgbClr val="0F172A"/>
                </a:solidFill>
                <a:cs typeface="Arial"/>
              </a:rPr>
              <a:t>Which One Works Best</a:t>
            </a:r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972A20FF-6224-D90A-A16B-DA64CBFEEC3C}"/>
              </a:ext>
            </a:extLst>
          </p:cNvPr>
          <p:cNvSpPr/>
          <p:nvPr/>
        </p:nvSpPr>
        <p:spPr>
          <a:xfrm>
            <a:off x="713232" y="1170432"/>
            <a:ext cx="10789920" cy="0"/>
          </a:xfrm>
          <a:prstGeom prst="line">
            <a:avLst/>
          </a:prstGeom>
          <a:noFill/>
          <a:ln w="12700">
            <a:solidFill>
              <a:srgbClr val="E6EA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8CCA9A1D-6B78-04BE-EF38-6AFFB5E13788}"/>
              </a:ext>
            </a:extLst>
          </p:cNvPr>
          <p:cNvSpPr/>
          <p:nvPr/>
        </p:nvSpPr>
        <p:spPr>
          <a:xfrm>
            <a:off x="5683054" y="1508760"/>
            <a:ext cx="1143000" cy="384048"/>
          </a:xfrm>
          <a:prstGeom prst="rect">
            <a:avLst/>
          </a:prstGeom>
          <a:solidFill>
            <a:srgbClr val="17324D"/>
          </a:solidFill>
          <a:ln w="12700">
            <a:solidFill>
              <a:srgbClr val="E6EA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70A3AD3A-3FF4-8F18-0B86-BF0C6437231D}"/>
              </a:ext>
            </a:extLst>
          </p:cNvPr>
          <p:cNvSpPr/>
          <p:nvPr/>
        </p:nvSpPr>
        <p:spPr>
          <a:xfrm>
            <a:off x="5737918" y="1563624"/>
            <a:ext cx="1033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</a:t>
            </a:r>
            <a:endParaRPr lang="en-US" sz="1150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B568EB92-0047-3FE2-A459-705FBDB2934A}"/>
              </a:ext>
            </a:extLst>
          </p:cNvPr>
          <p:cNvSpPr/>
          <p:nvPr/>
        </p:nvSpPr>
        <p:spPr>
          <a:xfrm>
            <a:off x="6826054" y="1508760"/>
            <a:ext cx="2148840" cy="384048"/>
          </a:xfrm>
          <a:prstGeom prst="rect">
            <a:avLst/>
          </a:prstGeom>
          <a:solidFill>
            <a:srgbClr val="17324D"/>
          </a:solidFill>
          <a:ln w="12700">
            <a:solidFill>
              <a:srgbClr val="E6EA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047154ED-854E-FED3-27DD-AC1CAEAF9665}"/>
              </a:ext>
            </a:extLst>
          </p:cNvPr>
          <p:cNvSpPr/>
          <p:nvPr/>
        </p:nvSpPr>
        <p:spPr>
          <a:xfrm>
            <a:off x="6880918" y="1563624"/>
            <a:ext cx="2039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Description</a:t>
            </a:r>
            <a:endParaRPr lang="en-US" sz="1150"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FB157D61-F156-88CA-33CE-5C038F4F1590}"/>
              </a:ext>
            </a:extLst>
          </p:cNvPr>
          <p:cNvSpPr/>
          <p:nvPr/>
        </p:nvSpPr>
        <p:spPr>
          <a:xfrm>
            <a:off x="8974894" y="1508760"/>
            <a:ext cx="1005840" cy="384048"/>
          </a:xfrm>
          <a:prstGeom prst="rect">
            <a:avLst/>
          </a:prstGeom>
          <a:solidFill>
            <a:srgbClr val="17324D"/>
          </a:solidFill>
          <a:ln w="12700">
            <a:solidFill>
              <a:srgbClr val="E6EA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003037BC-F230-7EAB-5A6D-AA5AA9C9C0C7}"/>
              </a:ext>
            </a:extLst>
          </p:cNvPr>
          <p:cNvSpPr/>
          <p:nvPr/>
        </p:nvSpPr>
        <p:spPr>
          <a:xfrm>
            <a:off x="9029758" y="1563624"/>
            <a:ext cx="896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 ↓</a:t>
            </a:r>
            <a:endParaRPr lang="en-US" sz="1150"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BCF03E34-97AD-2508-AC21-F00B312D0E5C}"/>
              </a:ext>
            </a:extLst>
          </p:cNvPr>
          <p:cNvSpPr/>
          <p:nvPr/>
        </p:nvSpPr>
        <p:spPr>
          <a:xfrm>
            <a:off x="9980734" y="1508760"/>
            <a:ext cx="1325880" cy="384048"/>
          </a:xfrm>
          <a:prstGeom prst="rect">
            <a:avLst/>
          </a:prstGeom>
          <a:solidFill>
            <a:srgbClr val="17324D"/>
          </a:solidFill>
          <a:ln w="12700">
            <a:solidFill>
              <a:srgbClr val="E6EA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98A5F198-AE1E-008D-F251-D340CBF9B9D6}"/>
              </a:ext>
            </a:extLst>
          </p:cNvPr>
          <p:cNvSpPr/>
          <p:nvPr/>
        </p:nvSpPr>
        <p:spPr>
          <a:xfrm>
            <a:off x="10035598" y="1563624"/>
            <a:ext cx="1216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Concordance ↑</a:t>
            </a:r>
            <a:endParaRPr lang="en-US" sz="1150"/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36DDB7E1-0283-E062-7999-AB0BB1DE93DA}"/>
              </a:ext>
            </a:extLst>
          </p:cNvPr>
          <p:cNvSpPr/>
          <p:nvPr/>
        </p:nvSpPr>
        <p:spPr>
          <a:xfrm>
            <a:off x="5683054" y="1892808"/>
            <a:ext cx="11430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6EA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0656F7CC-0E9A-B692-D761-56F42CD44D0A}"/>
              </a:ext>
            </a:extLst>
          </p:cNvPr>
          <p:cNvSpPr/>
          <p:nvPr/>
        </p:nvSpPr>
        <p:spPr>
          <a:xfrm>
            <a:off x="5737918" y="1947672"/>
            <a:ext cx="1033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model</a:t>
            </a:r>
            <a:endParaRPr lang="en-US" sz="1250"/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5A05D2F2-3F50-B33C-0B99-5F329385553B}"/>
              </a:ext>
            </a:extLst>
          </p:cNvPr>
          <p:cNvSpPr/>
          <p:nvPr/>
        </p:nvSpPr>
        <p:spPr>
          <a:xfrm>
            <a:off x="6826054" y="1892808"/>
            <a:ext cx="21488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6EA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138E0D7C-2755-AF7B-89B5-7C69361F5DDC}"/>
              </a:ext>
            </a:extLst>
          </p:cNvPr>
          <p:cNvSpPr/>
          <p:nvPr/>
        </p:nvSpPr>
        <p:spPr>
          <a:xfrm>
            <a:off x="6880918" y="1947672"/>
            <a:ext cx="2039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variables</a:t>
            </a:r>
            <a:endParaRPr lang="en-US" sz="1250"/>
          </a:p>
        </p:txBody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5DAB26A5-39B1-9476-B772-1FB46AA96BBF}"/>
              </a:ext>
            </a:extLst>
          </p:cNvPr>
          <p:cNvSpPr/>
          <p:nvPr/>
        </p:nvSpPr>
        <p:spPr>
          <a:xfrm>
            <a:off x="8974894" y="1892808"/>
            <a:ext cx="10058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6EA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33D41FB4-C9D6-A146-712B-DE354681B534}"/>
              </a:ext>
            </a:extLst>
          </p:cNvPr>
          <p:cNvSpPr/>
          <p:nvPr/>
        </p:nvSpPr>
        <p:spPr>
          <a:xfrm>
            <a:off x="9029758" y="1947672"/>
            <a:ext cx="896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18194.01</a:t>
            </a:r>
            <a:endParaRPr lang="en-US" sz="1250"/>
          </a:p>
        </p:txBody>
      </p:sp>
      <p:sp>
        <p:nvSpPr>
          <p:cNvPr id="34" name="Shape 32">
            <a:extLst>
              <a:ext uri="{FF2B5EF4-FFF2-40B4-BE49-F238E27FC236}">
                <a16:creationId xmlns:a16="http://schemas.microsoft.com/office/drawing/2014/main" id="{9F84ABA1-23EB-472D-146B-0AFFDC48696E}"/>
              </a:ext>
            </a:extLst>
          </p:cNvPr>
          <p:cNvSpPr/>
          <p:nvPr/>
        </p:nvSpPr>
        <p:spPr>
          <a:xfrm>
            <a:off x="9980734" y="1892808"/>
            <a:ext cx="13258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6EA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954D566C-4577-21F5-980C-1D5041772DB7}"/>
              </a:ext>
            </a:extLst>
          </p:cNvPr>
          <p:cNvSpPr/>
          <p:nvPr/>
        </p:nvSpPr>
        <p:spPr>
          <a:xfrm>
            <a:off x="10035598" y="1947672"/>
            <a:ext cx="1216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0.572</a:t>
            </a:r>
            <a:endParaRPr lang="en-US" sz="1250"/>
          </a:p>
        </p:txBody>
      </p:sp>
      <p:sp>
        <p:nvSpPr>
          <p:cNvPr id="36" name="Shape 34">
            <a:extLst>
              <a:ext uri="{FF2B5EF4-FFF2-40B4-BE49-F238E27FC236}">
                <a16:creationId xmlns:a16="http://schemas.microsoft.com/office/drawing/2014/main" id="{73FB82D1-62B6-CF50-44C8-D7BFD79A88AB}"/>
              </a:ext>
            </a:extLst>
          </p:cNvPr>
          <p:cNvSpPr/>
          <p:nvPr/>
        </p:nvSpPr>
        <p:spPr>
          <a:xfrm>
            <a:off x="5683054" y="2276856"/>
            <a:ext cx="11430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6EA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8A49B51D-0949-887F-1AB0-00CB4970923E}"/>
              </a:ext>
            </a:extLst>
          </p:cNvPr>
          <p:cNvSpPr/>
          <p:nvPr/>
        </p:nvSpPr>
        <p:spPr>
          <a:xfrm>
            <a:off x="5737918" y="2331720"/>
            <a:ext cx="1033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Reduced model</a:t>
            </a:r>
            <a:endParaRPr lang="en-US" sz="1250"/>
          </a:p>
        </p:txBody>
      </p:sp>
      <p:sp>
        <p:nvSpPr>
          <p:cNvPr id="38" name="Shape 36">
            <a:extLst>
              <a:ext uri="{FF2B5EF4-FFF2-40B4-BE49-F238E27FC236}">
                <a16:creationId xmlns:a16="http://schemas.microsoft.com/office/drawing/2014/main" id="{9B5B13DE-8DB2-B889-6977-921C6799C760}"/>
              </a:ext>
            </a:extLst>
          </p:cNvPr>
          <p:cNvSpPr/>
          <p:nvPr/>
        </p:nvSpPr>
        <p:spPr>
          <a:xfrm>
            <a:off x="6826054" y="2276856"/>
            <a:ext cx="21488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6EA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98D6E5F9-2156-6939-631F-714007D4FEF5}"/>
              </a:ext>
            </a:extLst>
          </p:cNvPr>
          <p:cNvSpPr/>
          <p:nvPr/>
        </p:nvSpPr>
        <p:spPr>
          <a:xfrm>
            <a:off x="6880918" y="2331720"/>
            <a:ext cx="2039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significant variables</a:t>
            </a:r>
            <a:endParaRPr lang="en-US" sz="1250"/>
          </a:p>
        </p:txBody>
      </p:sp>
      <p:sp>
        <p:nvSpPr>
          <p:cNvPr id="40" name="Shape 38">
            <a:extLst>
              <a:ext uri="{FF2B5EF4-FFF2-40B4-BE49-F238E27FC236}">
                <a16:creationId xmlns:a16="http://schemas.microsoft.com/office/drawing/2014/main" id="{BDCF3688-6160-DE00-BC8E-ADCCA1A908DF}"/>
              </a:ext>
            </a:extLst>
          </p:cNvPr>
          <p:cNvSpPr/>
          <p:nvPr/>
        </p:nvSpPr>
        <p:spPr>
          <a:xfrm>
            <a:off x="8974894" y="2276856"/>
            <a:ext cx="10058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6EA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>
            <a:extLst>
              <a:ext uri="{FF2B5EF4-FFF2-40B4-BE49-F238E27FC236}">
                <a16:creationId xmlns:a16="http://schemas.microsoft.com/office/drawing/2014/main" id="{445CED44-90EE-1B02-B7CF-A9ADD3DC0A51}"/>
              </a:ext>
            </a:extLst>
          </p:cNvPr>
          <p:cNvSpPr/>
          <p:nvPr/>
        </p:nvSpPr>
        <p:spPr>
          <a:xfrm>
            <a:off x="9029758" y="2331720"/>
            <a:ext cx="896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18170.73</a:t>
            </a:r>
            <a:endParaRPr lang="en-US" sz="1250"/>
          </a:p>
        </p:txBody>
      </p:sp>
      <p:sp>
        <p:nvSpPr>
          <p:cNvPr id="42" name="Shape 40">
            <a:extLst>
              <a:ext uri="{FF2B5EF4-FFF2-40B4-BE49-F238E27FC236}">
                <a16:creationId xmlns:a16="http://schemas.microsoft.com/office/drawing/2014/main" id="{5DCF37D2-7EF8-9D57-2459-59501E866B00}"/>
              </a:ext>
            </a:extLst>
          </p:cNvPr>
          <p:cNvSpPr/>
          <p:nvPr/>
        </p:nvSpPr>
        <p:spPr>
          <a:xfrm>
            <a:off x="9980734" y="2276856"/>
            <a:ext cx="13258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6EA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>
            <a:extLst>
              <a:ext uri="{FF2B5EF4-FFF2-40B4-BE49-F238E27FC236}">
                <a16:creationId xmlns:a16="http://schemas.microsoft.com/office/drawing/2014/main" id="{2E125C16-9A48-5E2D-9676-B90DE7BB3456}"/>
              </a:ext>
            </a:extLst>
          </p:cNvPr>
          <p:cNvSpPr/>
          <p:nvPr/>
        </p:nvSpPr>
        <p:spPr>
          <a:xfrm>
            <a:off x="10035598" y="2331720"/>
            <a:ext cx="1216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0.552</a:t>
            </a:r>
            <a:endParaRPr lang="en-US" sz="1250"/>
          </a:p>
        </p:txBody>
      </p:sp>
      <p:sp>
        <p:nvSpPr>
          <p:cNvPr id="44" name="Text 42">
            <a:extLst>
              <a:ext uri="{FF2B5EF4-FFF2-40B4-BE49-F238E27FC236}">
                <a16:creationId xmlns:a16="http://schemas.microsoft.com/office/drawing/2014/main" id="{84487320-B2AE-1100-A47E-5AEC6D8E793F}"/>
              </a:ext>
            </a:extLst>
          </p:cNvPr>
          <p:cNvSpPr/>
          <p:nvPr/>
        </p:nvSpPr>
        <p:spPr>
          <a:xfrm>
            <a:off x="5690152" y="3627810"/>
            <a:ext cx="5820389" cy="43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50">
                <a:solidFill>
                  <a:srgbClr val="0F172A"/>
                </a:solidFill>
                <a:ea typeface="+mn-lt"/>
                <a:cs typeface="+mn-lt"/>
              </a:rPr>
              <a:t>Lower AIC means  better fit while avoiding unnecessary overfitting.</a:t>
            </a:r>
            <a:endParaRPr lang="en-US">
              <a:ea typeface="+mn-lt"/>
              <a:cs typeface="+mn-lt"/>
            </a:endParaRPr>
          </a:p>
        </p:txBody>
      </p:sp>
      <p:sp>
        <p:nvSpPr>
          <p:cNvPr id="45" name="Shape 43">
            <a:extLst>
              <a:ext uri="{FF2B5EF4-FFF2-40B4-BE49-F238E27FC236}">
                <a16:creationId xmlns:a16="http://schemas.microsoft.com/office/drawing/2014/main" id="{7266C25E-2689-507C-90E5-D452FA4FF411}"/>
              </a:ext>
            </a:extLst>
          </p:cNvPr>
          <p:cNvSpPr/>
          <p:nvPr/>
        </p:nvSpPr>
        <p:spPr>
          <a:xfrm>
            <a:off x="815139" y="4365829"/>
            <a:ext cx="10689336" cy="1051560"/>
          </a:xfrm>
          <a:prstGeom prst="roundRect">
            <a:avLst>
              <a:gd name="adj" fmla="val 3478"/>
            </a:avLst>
          </a:prstGeom>
          <a:solidFill>
            <a:srgbClr val="E7F4E5"/>
          </a:solidFill>
          <a:ln w="12700">
            <a:solidFill>
              <a:srgbClr val="E7F4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>
            <a:extLst>
              <a:ext uri="{FF2B5EF4-FFF2-40B4-BE49-F238E27FC236}">
                <a16:creationId xmlns:a16="http://schemas.microsoft.com/office/drawing/2014/main" id="{1D5B6F3A-C081-32F9-1364-59F3FDE85E5D}"/>
              </a:ext>
            </a:extLst>
          </p:cNvPr>
          <p:cNvSpPr/>
          <p:nvPr/>
        </p:nvSpPr>
        <p:spPr>
          <a:xfrm>
            <a:off x="977085" y="4872187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5D9C59"/>
                </a:solidFill>
              </a:rPr>
              <a:t>Proportional hazards assumption</a:t>
            </a:r>
            <a:endParaRPr lang="en-US" sz="1300"/>
          </a:p>
        </p:txBody>
      </p:sp>
      <p:sp>
        <p:nvSpPr>
          <p:cNvPr id="47" name="Text 45">
            <a:extLst>
              <a:ext uri="{FF2B5EF4-FFF2-40B4-BE49-F238E27FC236}">
                <a16:creationId xmlns:a16="http://schemas.microsoft.com/office/drawing/2014/main" id="{B9C21E24-8627-B5E7-4EDF-7F32905684C5}"/>
              </a:ext>
            </a:extLst>
          </p:cNvPr>
          <p:cNvSpPr/>
          <p:nvPr/>
        </p:nvSpPr>
        <p:spPr>
          <a:xfrm>
            <a:off x="3449991" y="4745436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>
                <a:solidFill>
                  <a:srgbClr val="0F172A"/>
                </a:solidFill>
              </a:rPr>
              <a:t>GLOBAL p-value = 0.322 (&gt; 0.05), so the assumption was satisfied. That means relative risk stayed stable enough over time for the Cox model to be valid.</a:t>
            </a:r>
            <a:endParaRPr lang="en-US" sz="1450"/>
          </a:p>
        </p:txBody>
      </p:sp>
      <p:sp>
        <p:nvSpPr>
          <p:cNvPr id="48" name="Text 46">
            <a:extLst>
              <a:ext uri="{FF2B5EF4-FFF2-40B4-BE49-F238E27FC236}">
                <a16:creationId xmlns:a16="http://schemas.microsoft.com/office/drawing/2014/main" id="{ECF63E91-6856-2602-C620-0577439C2223}"/>
              </a:ext>
            </a:extLst>
          </p:cNvPr>
          <p:cNvSpPr/>
          <p:nvPr/>
        </p:nvSpPr>
        <p:spPr>
          <a:xfrm>
            <a:off x="761540" y="5887643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i="1">
                <a:solidFill>
                  <a:srgbClr val="475569"/>
                </a:solidFill>
              </a:rPr>
              <a:t>This is the point where the project stops being only a churn classifier and becomes a timing model for patient disengagement.</a:t>
            </a:r>
            <a:endParaRPr lang="en-US" sz="1550"/>
          </a:p>
        </p:txBody>
      </p:sp>
      <p:sp>
        <p:nvSpPr>
          <p:cNvPr id="49" name="Text 47">
            <a:extLst>
              <a:ext uri="{FF2B5EF4-FFF2-40B4-BE49-F238E27FC236}">
                <a16:creationId xmlns:a16="http://schemas.microsoft.com/office/drawing/2014/main" id="{1461648C-4C4A-7022-D4D5-7E331985970F}"/>
              </a:ext>
            </a:extLst>
          </p:cNvPr>
          <p:cNvSpPr/>
          <p:nvPr/>
        </p:nvSpPr>
        <p:spPr>
          <a:xfrm>
            <a:off x="11475720" y="6492240"/>
            <a:ext cx="320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/>
          </a:p>
        </p:txBody>
      </p:sp>
      <p:pic>
        <p:nvPicPr>
          <p:cNvPr id="50" name="Picture 49">
            <a:extLst>
              <a:ext uri="{FF2B5EF4-FFF2-40B4-BE49-F238E27FC236}">
                <a16:creationId xmlns:a16="http://schemas.microsoft.com/office/drawing/2014/main" id="{14EEAD0D-9844-80D5-AE8B-7540CCAA19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325" y="1155940"/>
            <a:ext cx="5229764" cy="3050874"/>
          </a:xfrm>
          <a:prstGeom prst="rect">
            <a:avLst/>
          </a:prstGeom>
        </p:spPr>
      </p:pic>
      <p:sp>
        <p:nvSpPr>
          <p:cNvPr id="51" name="TextBox 50">
            <a:extLst>
              <a:ext uri="{FF2B5EF4-FFF2-40B4-BE49-F238E27FC236}">
                <a16:creationId xmlns:a16="http://schemas.microsoft.com/office/drawing/2014/main" id="{5C63FA61-9434-265A-DBBF-C2DEE2B706BE}"/>
              </a:ext>
            </a:extLst>
          </p:cNvPr>
          <p:cNvSpPr txBox="1"/>
          <p:nvPr/>
        </p:nvSpPr>
        <p:spPr>
          <a:xfrm>
            <a:off x="5545276" y="2815960"/>
            <a:ext cx="6368403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>
                <a:ea typeface="+mn-lt"/>
                <a:cs typeface="+mn-lt"/>
              </a:rPr>
              <a:t>AIC (Akaike Information Criterion) measures model quality by balancing goodness-of-fit and complexity,</a:t>
            </a:r>
            <a:endParaRPr lang="en-US" sz="160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423927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B8C85"/>
          </a:solidFill>
          <a:ln w="12700">
            <a:solidFill>
              <a:srgbClr val="2B8C8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13232" y="256032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>
                <a:solidFill>
                  <a:srgbClr val="2B8C85"/>
                </a:solidFill>
                <a:latin typeface="Arial"/>
                <a:ea typeface="Arial" pitchFamily="34" charset="-122"/>
                <a:cs typeface="Arial"/>
              </a:rPr>
              <a:t>Patient churn - bs</a:t>
            </a:r>
            <a:endParaRPr lang="en-US" sz="1000"/>
          </a:p>
        </p:txBody>
      </p:sp>
      <p:sp>
        <p:nvSpPr>
          <p:cNvPr id="4" name="Shape 2"/>
          <p:cNvSpPr/>
          <p:nvPr/>
        </p:nvSpPr>
        <p:spPr>
          <a:xfrm>
            <a:off x="8503920" y="374904"/>
            <a:ext cx="2304288" cy="0"/>
          </a:xfrm>
          <a:prstGeom prst="line">
            <a:avLst/>
          </a:prstGeom>
          <a:noFill/>
          <a:ln w="12700">
            <a:solidFill>
              <a:srgbClr val="E6EA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503920" y="292608"/>
            <a:ext cx="164592" cy="164592"/>
          </a:xfrm>
          <a:prstGeom prst="ellipse">
            <a:avLst/>
          </a:prstGeom>
          <a:solidFill>
            <a:srgbClr val="2B8C85"/>
          </a:solidFill>
          <a:ln w="12700">
            <a:solidFill>
              <a:srgbClr val="2B8C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339328" y="475488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</a:t>
            </a:r>
            <a:endParaRPr lang="en-US" sz="750"/>
          </a:p>
        </p:txBody>
      </p:sp>
      <p:sp>
        <p:nvSpPr>
          <p:cNvPr id="7" name="Shape 5"/>
          <p:cNvSpPr/>
          <p:nvPr/>
        </p:nvSpPr>
        <p:spPr>
          <a:xfrm>
            <a:off x="9079992" y="292608"/>
            <a:ext cx="164592" cy="164592"/>
          </a:xfrm>
          <a:prstGeom prst="ellipse">
            <a:avLst/>
          </a:prstGeom>
          <a:solidFill>
            <a:srgbClr val="2B8C85"/>
          </a:solidFill>
          <a:ln w="12700">
            <a:solidFill>
              <a:srgbClr val="2B8C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915400" y="475488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Signals</a:t>
            </a:r>
            <a:endParaRPr lang="en-US" sz="750"/>
          </a:p>
        </p:txBody>
      </p:sp>
      <p:sp>
        <p:nvSpPr>
          <p:cNvPr id="9" name="Shape 7"/>
          <p:cNvSpPr/>
          <p:nvPr/>
        </p:nvSpPr>
        <p:spPr>
          <a:xfrm>
            <a:off x="9656064" y="292608"/>
            <a:ext cx="164592" cy="164592"/>
          </a:xfrm>
          <a:prstGeom prst="ellipse">
            <a:avLst/>
          </a:prstGeom>
          <a:solidFill>
            <a:srgbClr val="2B8C85"/>
          </a:solidFill>
          <a:ln w="12700">
            <a:solidFill>
              <a:srgbClr val="2B8C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491472" y="475488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Prediction</a:t>
            </a:r>
            <a:endParaRPr lang="en-US" sz="750"/>
          </a:p>
        </p:txBody>
      </p:sp>
      <p:sp>
        <p:nvSpPr>
          <p:cNvPr id="11" name="Shape 9"/>
          <p:cNvSpPr/>
          <p:nvPr/>
        </p:nvSpPr>
        <p:spPr>
          <a:xfrm>
            <a:off x="10232136" y="292608"/>
            <a:ext cx="164592" cy="164592"/>
          </a:xfrm>
          <a:prstGeom prst="ellipse">
            <a:avLst/>
          </a:prstGeom>
          <a:solidFill>
            <a:srgbClr val="D95F5F"/>
          </a:solidFill>
          <a:ln w="12700">
            <a:solidFill>
              <a:srgbClr val="D95F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0067544" y="475488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Timing</a:t>
            </a:r>
            <a:endParaRPr lang="en-US" sz="750"/>
          </a:p>
        </p:txBody>
      </p:sp>
      <p:sp>
        <p:nvSpPr>
          <p:cNvPr id="13" name="Shape 11"/>
          <p:cNvSpPr/>
          <p:nvPr/>
        </p:nvSpPr>
        <p:spPr>
          <a:xfrm>
            <a:off x="10808208" y="29260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6EA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0643616" y="475488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</a:t>
            </a:r>
            <a:endParaRPr lang="en-US" sz="750"/>
          </a:p>
        </p:txBody>
      </p:sp>
      <p:sp>
        <p:nvSpPr>
          <p:cNvPr id="15" name="Text 13"/>
          <p:cNvSpPr/>
          <p:nvPr/>
        </p:nvSpPr>
        <p:spPr>
          <a:xfrm>
            <a:off x="713232" y="621792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Changes the Timing of Churn?</a:t>
            </a:r>
            <a:endParaRPr lang="en-US" sz="2500"/>
          </a:p>
        </p:txBody>
      </p:sp>
      <p:sp>
        <p:nvSpPr>
          <p:cNvPr id="16" name="Shape 14"/>
          <p:cNvSpPr/>
          <p:nvPr/>
        </p:nvSpPr>
        <p:spPr>
          <a:xfrm>
            <a:off x="-1285221" y="4477224"/>
            <a:ext cx="10789920" cy="0"/>
          </a:xfrm>
          <a:prstGeom prst="line">
            <a:avLst/>
          </a:prstGeom>
          <a:noFill/>
          <a:ln w="12700">
            <a:solidFill>
              <a:srgbClr val="E6EA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04672" y="1417320"/>
            <a:ext cx="2011680" cy="411480"/>
          </a:xfrm>
          <a:prstGeom prst="rect">
            <a:avLst/>
          </a:prstGeom>
          <a:solidFill>
            <a:srgbClr val="17324D"/>
          </a:solidFill>
          <a:ln w="12700">
            <a:solidFill>
              <a:srgbClr val="E6EA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59536" y="1472184"/>
            <a:ext cx="19019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Variable</a:t>
            </a:r>
            <a:endParaRPr lang="en-US" sz="1150"/>
          </a:p>
        </p:txBody>
      </p:sp>
      <p:sp>
        <p:nvSpPr>
          <p:cNvPr id="19" name="Shape 17"/>
          <p:cNvSpPr/>
          <p:nvPr/>
        </p:nvSpPr>
        <p:spPr>
          <a:xfrm>
            <a:off x="2816352" y="1417320"/>
            <a:ext cx="594360" cy="411480"/>
          </a:xfrm>
          <a:prstGeom prst="rect">
            <a:avLst/>
          </a:prstGeom>
          <a:solidFill>
            <a:srgbClr val="17324D"/>
          </a:solidFill>
          <a:ln w="12700">
            <a:solidFill>
              <a:srgbClr val="E6EA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871216" y="1472184"/>
            <a:ext cx="4846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β</a:t>
            </a:r>
            <a:endParaRPr lang="en-US" sz="1150"/>
          </a:p>
        </p:txBody>
      </p:sp>
      <p:sp>
        <p:nvSpPr>
          <p:cNvPr id="21" name="Shape 19"/>
          <p:cNvSpPr/>
          <p:nvPr/>
        </p:nvSpPr>
        <p:spPr>
          <a:xfrm>
            <a:off x="3410712" y="1417320"/>
            <a:ext cx="640080" cy="411480"/>
          </a:xfrm>
          <a:prstGeom prst="rect">
            <a:avLst/>
          </a:prstGeom>
          <a:solidFill>
            <a:srgbClr val="17324D"/>
          </a:solidFill>
          <a:ln w="12700">
            <a:solidFill>
              <a:srgbClr val="E6EA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465576" y="1472184"/>
            <a:ext cx="5303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HR</a:t>
            </a:r>
            <a:endParaRPr lang="en-US" sz="1150"/>
          </a:p>
        </p:txBody>
      </p:sp>
      <p:sp>
        <p:nvSpPr>
          <p:cNvPr id="23" name="Shape 21"/>
          <p:cNvSpPr/>
          <p:nvPr/>
        </p:nvSpPr>
        <p:spPr>
          <a:xfrm>
            <a:off x="4050792" y="1417320"/>
            <a:ext cx="1965960" cy="411480"/>
          </a:xfrm>
          <a:prstGeom prst="rect">
            <a:avLst/>
          </a:prstGeom>
          <a:solidFill>
            <a:srgbClr val="17324D"/>
          </a:solidFill>
          <a:ln w="12700">
            <a:solidFill>
              <a:srgbClr val="E6EA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105656" y="1472184"/>
            <a:ext cx="18562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Translation</a:t>
            </a:r>
            <a:endParaRPr lang="en-US" sz="1150"/>
          </a:p>
        </p:txBody>
      </p:sp>
      <p:sp>
        <p:nvSpPr>
          <p:cNvPr id="25" name="Shape 23"/>
          <p:cNvSpPr/>
          <p:nvPr/>
        </p:nvSpPr>
        <p:spPr>
          <a:xfrm>
            <a:off x="804672" y="1828800"/>
            <a:ext cx="20116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A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859536" y="1883664"/>
            <a:ext cx="19019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3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satisfaction</a:t>
            </a:r>
            <a:endParaRPr lang="en-US" sz="1230"/>
          </a:p>
        </p:txBody>
      </p:sp>
      <p:sp>
        <p:nvSpPr>
          <p:cNvPr id="27" name="Shape 25"/>
          <p:cNvSpPr/>
          <p:nvPr/>
        </p:nvSpPr>
        <p:spPr>
          <a:xfrm>
            <a:off x="2816352" y="1828800"/>
            <a:ext cx="59436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A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2871216" y="1883664"/>
            <a:ext cx="4846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3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-0.096</a:t>
            </a:r>
            <a:endParaRPr lang="en-US" sz="1230"/>
          </a:p>
        </p:txBody>
      </p:sp>
      <p:sp>
        <p:nvSpPr>
          <p:cNvPr id="29" name="Shape 27"/>
          <p:cNvSpPr/>
          <p:nvPr/>
        </p:nvSpPr>
        <p:spPr>
          <a:xfrm>
            <a:off x="3410712" y="1828800"/>
            <a:ext cx="6400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A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465576" y="1883664"/>
            <a:ext cx="5303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3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0.91</a:t>
            </a:r>
            <a:endParaRPr lang="en-US" sz="1230"/>
          </a:p>
        </p:txBody>
      </p:sp>
      <p:sp>
        <p:nvSpPr>
          <p:cNvPr id="31" name="Shape 29"/>
          <p:cNvSpPr/>
          <p:nvPr/>
        </p:nvSpPr>
        <p:spPr>
          <a:xfrm>
            <a:off x="4050792" y="1828800"/>
            <a:ext cx="196596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A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105656" y="1883664"/>
            <a:ext cx="18562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3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About 9% lower risk</a:t>
            </a:r>
            <a:endParaRPr lang="en-US" sz="1230"/>
          </a:p>
        </p:txBody>
      </p:sp>
      <p:sp>
        <p:nvSpPr>
          <p:cNvPr id="33" name="Shape 31"/>
          <p:cNvSpPr/>
          <p:nvPr/>
        </p:nvSpPr>
        <p:spPr>
          <a:xfrm>
            <a:off x="804672" y="2240280"/>
            <a:ext cx="20116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A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859536" y="2295144"/>
            <a:ext cx="19019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3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 since last visit</a:t>
            </a:r>
            <a:endParaRPr lang="en-US" sz="1230"/>
          </a:p>
        </p:txBody>
      </p:sp>
      <p:sp>
        <p:nvSpPr>
          <p:cNvPr id="35" name="Shape 33"/>
          <p:cNvSpPr/>
          <p:nvPr/>
        </p:nvSpPr>
        <p:spPr>
          <a:xfrm>
            <a:off x="2816352" y="2240280"/>
            <a:ext cx="59436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A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2871216" y="2295144"/>
            <a:ext cx="4846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3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0.00049</a:t>
            </a:r>
            <a:endParaRPr lang="en-US" sz="1230"/>
          </a:p>
        </p:txBody>
      </p:sp>
      <p:sp>
        <p:nvSpPr>
          <p:cNvPr id="37" name="Shape 35"/>
          <p:cNvSpPr/>
          <p:nvPr/>
        </p:nvSpPr>
        <p:spPr>
          <a:xfrm>
            <a:off x="3410712" y="2240280"/>
            <a:ext cx="6400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A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3465576" y="2295144"/>
            <a:ext cx="5303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3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1.0005</a:t>
            </a:r>
            <a:endParaRPr lang="en-US" sz="1230"/>
          </a:p>
        </p:txBody>
      </p:sp>
      <p:sp>
        <p:nvSpPr>
          <p:cNvPr id="39" name="Shape 37"/>
          <p:cNvSpPr/>
          <p:nvPr/>
        </p:nvSpPr>
        <p:spPr>
          <a:xfrm>
            <a:off x="4050792" y="2240280"/>
            <a:ext cx="196596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A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4105656" y="2295144"/>
            <a:ext cx="18562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3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rises 0.05% per day</a:t>
            </a:r>
            <a:endParaRPr lang="en-US" sz="1230"/>
          </a:p>
        </p:txBody>
      </p:sp>
      <p:sp>
        <p:nvSpPr>
          <p:cNvPr id="41" name="Shape 39"/>
          <p:cNvSpPr/>
          <p:nvPr/>
        </p:nvSpPr>
        <p:spPr>
          <a:xfrm>
            <a:off x="804672" y="2651760"/>
            <a:ext cx="20116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A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859536" y="2706624"/>
            <a:ext cx="19019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3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Wait-time satisfaction</a:t>
            </a:r>
            <a:endParaRPr lang="en-US" sz="1230"/>
          </a:p>
        </p:txBody>
      </p:sp>
      <p:sp>
        <p:nvSpPr>
          <p:cNvPr id="43" name="Shape 41"/>
          <p:cNvSpPr/>
          <p:nvPr/>
        </p:nvSpPr>
        <p:spPr>
          <a:xfrm>
            <a:off x="2816352" y="2651760"/>
            <a:ext cx="59436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A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2871216" y="2706624"/>
            <a:ext cx="4846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3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-0.090</a:t>
            </a:r>
            <a:endParaRPr lang="en-US" sz="1230"/>
          </a:p>
        </p:txBody>
      </p:sp>
      <p:sp>
        <p:nvSpPr>
          <p:cNvPr id="45" name="Shape 43"/>
          <p:cNvSpPr/>
          <p:nvPr/>
        </p:nvSpPr>
        <p:spPr>
          <a:xfrm>
            <a:off x="3410712" y="2651760"/>
            <a:ext cx="6400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A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3465576" y="2706624"/>
            <a:ext cx="5303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3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0.91</a:t>
            </a:r>
            <a:endParaRPr lang="en-US" sz="1230"/>
          </a:p>
        </p:txBody>
      </p:sp>
      <p:sp>
        <p:nvSpPr>
          <p:cNvPr id="47" name="Shape 45"/>
          <p:cNvSpPr/>
          <p:nvPr/>
        </p:nvSpPr>
        <p:spPr>
          <a:xfrm>
            <a:off x="4050792" y="2651760"/>
            <a:ext cx="196596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A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4105656" y="2706624"/>
            <a:ext cx="18562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3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About 8.6% lower risk</a:t>
            </a:r>
            <a:endParaRPr lang="en-US" sz="1230"/>
          </a:p>
        </p:txBody>
      </p:sp>
      <p:sp>
        <p:nvSpPr>
          <p:cNvPr id="49" name="Shape 47"/>
          <p:cNvSpPr/>
          <p:nvPr/>
        </p:nvSpPr>
        <p:spPr>
          <a:xfrm>
            <a:off x="804672" y="3063240"/>
            <a:ext cx="20116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A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859536" y="3118104"/>
            <a:ext cx="19019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3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Referrals made</a:t>
            </a:r>
            <a:endParaRPr lang="en-US" sz="1230"/>
          </a:p>
        </p:txBody>
      </p:sp>
      <p:sp>
        <p:nvSpPr>
          <p:cNvPr id="51" name="Shape 49"/>
          <p:cNvSpPr/>
          <p:nvPr/>
        </p:nvSpPr>
        <p:spPr>
          <a:xfrm>
            <a:off x="2816352" y="3063240"/>
            <a:ext cx="59436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A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2871216" y="3118104"/>
            <a:ext cx="4846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3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-0.05</a:t>
            </a:r>
            <a:endParaRPr lang="en-US" sz="1230"/>
          </a:p>
        </p:txBody>
      </p:sp>
      <p:sp>
        <p:nvSpPr>
          <p:cNvPr id="53" name="Shape 51"/>
          <p:cNvSpPr/>
          <p:nvPr/>
        </p:nvSpPr>
        <p:spPr>
          <a:xfrm>
            <a:off x="3410712" y="3063240"/>
            <a:ext cx="6400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A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3465576" y="3118104"/>
            <a:ext cx="5303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3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0.95</a:t>
            </a:r>
            <a:endParaRPr lang="en-US" sz="1230"/>
          </a:p>
        </p:txBody>
      </p:sp>
      <p:sp>
        <p:nvSpPr>
          <p:cNvPr id="55" name="Shape 53"/>
          <p:cNvSpPr/>
          <p:nvPr/>
        </p:nvSpPr>
        <p:spPr>
          <a:xfrm>
            <a:off x="4050792" y="3063240"/>
            <a:ext cx="196596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A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4105656" y="3118104"/>
            <a:ext cx="18562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3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About 5% lower risk</a:t>
            </a:r>
            <a:endParaRPr lang="en-US" sz="1230"/>
          </a:p>
        </p:txBody>
      </p:sp>
      <p:sp>
        <p:nvSpPr>
          <p:cNvPr id="57" name="Shape 55"/>
          <p:cNvSpPr/>
          <p:nvPr/>
        </p:nvSpPr>
        <p:spPr>
          <a:xfrm>
            <a:off x="804672" y="3474720"/>
            <a:ext cx="20116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A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859536" y="3529584"/>
            <a:ext cx="19019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3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Distance to facility</a:t>
            </a:r>
            <a:endParaRPr lang="en-US" sz="1230"/>
          </a:p>
        </p:txBody>
      </p:sp>
      <p:sp>
        <p:nvSpPr>
          <p:cNvPr id="59" name="Shape 57"/>
          <p:cNvSpPr/>
          <p:nvPr/>
        </p:nvSpPr>
        <p:spPr>
          <a:xfrm>
            <a:off x="2816352" y="3474720"/>
            <a:ext cx="59436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A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2871216" y="3529584"/>
            <a:ext cx="4846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3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0.0054</a:t>
            </a:r>
            <a:endParaRPr lang="en-US" sz="1230"/>
          </a:p>
        </p:txBody>
      </p:sp>
      <p:sp>
        <p:nvSpPr>
          <p:cNvPr id="61" name="Shape 59"/>
          <p:cNvSpPr/>
          <p:nvPr/>
        </p:nvSpPr>
        <p:spPr>
          <a:xfrm>
            <a:off x="3410712" y="3474720"/>
            <a:ext cx="6400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A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3465576" y="3529584"/>
            <a:ext cx="5303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3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1.005</a:t>
            </a:r>
            <a:endParaRPr lang="en-US" sz="1230"/>
          </a:p>
        </p:txBody>
      </p:sp>
      <p:sp>
        <p:nvSpPr>
          <p:cNvPr id="63" name="Shape 61"/>
          <p:cNvSpPr/>
          <p:nvPr/>
        </p:nvSpPr>
        <p:spPr>
          <a:xfrm>
            <a:off x="4050792" y="3474720"/>
            <a:ext cx="196596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A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4105656" y="3529584"/>
            <a:ext cx="18562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3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rises 0.5% per mile</a:t>
            </a:r>
            <a:endParaRPr lang="en-US" sz="1230"/>
          </a:p>
        </p:txBody>
      </p:sp>
      <p:sp>
        <p:nvSpPr>
          <p:cNvPr id="65" name="Shape 63"/>
          <p:cNvSpPr/>
          <p:nvPr/>
        </p:nvSpPr>
        <p:spPr>
          <a:xfrm>
            <a:off x="6995160" y="1554480"/>
            <a:ext cx="4069080" cy="914400"/>
          </a:xfrm>
          <a:prstGeom prst="roundRect">
            <a:avLst>
              <a:gd name="adj" fmla="val 5000"/>
            </a:avLst>
          </a:prstGeom>
          <a:solidFill>
            <a:srgbClr val="FCE5E1"/>
          </a:solidFill>
          <a:ln w="12700">
            <a:solidFill>
              <a:srgbClr val="FCE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7269480" y="1847088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>
                <a:solidFill>
                  <a:srgbClr val="0F172A"/>
                </a:solidFill>
              </a:rPr>
              <a:t>Higher satisfaction slows churn.</a:t>
            </a:r>
            <a:endParaRPr lang="en-US" sz="1900"/>
          </a:p>
        </p:txBody>
      </p:sp>
      <p:sp>
        <p:nvSpPr>
          <p:cNvPr id="67" name="Shape 65"/>
          <p:cNvSpPr/>
          <p:nvPr/>
        </p:nvSpPr>
        <p:spPr>
          <a:xfrm>
            <a:off x="6995160" y="2743200"/>
            <a:ext cx="4069080" cy="914400"/>
          </a:xfrm>
          <a:prstGeom prst="roundRect">
            <a:avLst>
              <a:gd name="adj" fmla="val 5000"/>
            </a:avLst>
          </a:prstGeom>
          <a:solidFill>
            <a:srgbClr val="F2E9D8"/>
          </a:solidFill>
          <a:ln w="12700">
            <a:solidFill>
              <a:srgbClr val="F2E9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7269480" y="301752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0F172A"/>
                </a:solidFill>
              </a:rPr>
              <a:t>Longer gaps since the last visit quietly push risk upward.</a:t>
            </a:r>
            <a:endParaRPr lang="en-US" sz="1800"/>
          </a:p>
        </p:txBody>
      </p:sp>
      <p:sp>
        <p:nvSpPr>
          <p:cNvPr id="69" name="Shape 67"/>
          <p:cNvSpPr/>
          <p:nvPr/>
        </p:nvSpPr>
        <p:spPr>
          <a:xfrm>
            <a:off x="6995160" y="3931920"/>
            <a:ext cx="4069080" cy="914400"/>
          </a:xfrm>
          <a:prstGeom prst="roundRect">
            <a:avLst>
              <a:gd name="adj" fmla="val 5000"/>
            </a:avLst>
          </a:prstGeom>
          <a:solidFill>
            <a:srgbClr val="DCEFEB"/>
          </a:solidFill>
          <a:ln w="12700">
            <a:solidFill>
              <a:srgbClr val="DCEF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Text 68"/>
          <p:cNvSpPr/>
          <p:nvPr/>
        </p:nvSpPr>
        <p:spPr>
          <a:xfrm>
            <a:off x="7269480" y="418795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0F172A"/>
                </a:solidFill>
              </a:rPr>
              <a:t>Distance adds friction, which slowly increases time-to-churn risk.</a:t>
            </a:r>
            <a:endParaRPr lang="en-US" sz="1800"/>
          </a:p>
        </p:txBody>
      </p:sp>
      <p:sp>
        <p:nvSpPr>
          <p:cNvPr id="72" name="Text 70"/>
          <p:cNvSpPr/>
          <p:nvPr/>
        </p:nvSpPr>
        <p:spPr>
          <a:xfrm>
            <a:off x="11475720" y="6492240"/>
            <a:ext cx="320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/>
          </a:p>
        </p:txBody>
      </p:sp>
      <p:sp>
        <p:nvSpPr>
          <p:cNvPr id="75" name="TextBox 6">
            <a:extLst>
              <a:ext uri="{FF2B5EF4-FFF2-40B4-BE49-F238E27FC236}">
                <a16:creationId xmlns:a16="http://schemas.microsoft.com/office/drawing/2014/main" id="{448D87F9-3B93-73D8-43AA-ABF3169F9D10}"/>
              </a:ext>
            </a:extLst>
          </p:cNvPr>
          <p:cNvSpPr txBox="1"/>
          <p:nvPr/>
        </p:nvSpPr>
        <p:spPr>
          <a:xfrm>
            <a:off x="851311" y="5713145"/>
            <a:ext cx="10221843" cy="83099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b="1" i="1" err="1">
                <a:solidFill>
                  <a:schemeClr val="accent2">
                    <a:lumMod val="10000"/>
                  </a:schemeClr>
                </a:solidFill>
                <a:ea typeface="+mn-lt"/>
                <a:cs typeface="+mn-lt"/>
              </a:rPr>
              <a:t>Logh</a:t>
            </a:r>
            <a:r>
              <a:rPr lang="en-US" sz="1600" b="1" i="1">
                <a:solidFill>
                  <a:schemeClr val="accent2">
                    <a:lumMod val="10000"/>
                  </a:schemeClr>
                </a:solidFill>
                <a:ea typeface="+mn-lt"/>
                <a:cs typeface="+mn-lt"/>
              </a:rPr>
              <a:t>{(t)} = </a:t>
            </a:r>
            <a:br>
              <a:rPr lang="en-US" sz="1600" b="1" i="1">
                <a:solidFill>
                  <a:schemeClr val="accent2">
                    <a:lumMod val="10000"/>
                  </a:schemeClr>
                </a:solidFill>
                <a:ea typeface="+mn-lt"/>
                <a:cs typeface="+mn-lt"/>
              </a:rPr>
            </a:br>
            <a:r>
              <a:rPr lang="en-US" sz="1600" b="1" i="1">
                <a:solidFill>
                  <a:schemeClr val="accent2">
                    <a:lumMod val="10000"/>
                  </a:schemeClr>
                </a:solidFill>
                <a:ea typeface="+mn-lt"/>
                <a:cs typeface="+mn-lt"/>
              </a:rPr>
              <a:t>log{h0 (t)}  −  0.0962(</a:t>
            </a:r>
            <a:r>
              <a:rPr lang="en-US" sz="1600" b="1" i="1" err="1">
                <a:solidFill>
                  <a:schemeClr val="accent2">
                    <a:lumMod val="10000"/>
                  </a:schemeClr>
                </a:solidFill>
                <a:ea typeface="+mn-lt"/>
                <a:cs typeface="+mn-lt"/>
              </a:rPr>
              <a:t>overall_satisfaction</a:t>
            </a:r>
            <a:r>
              <a:rPr lang="en-US" sz="1600" b="1" i="1">
                <a:solidFill>
                  <a:schemeClr val="accent2">
                    <a:lumMod val="10000"/>
                  </a:schemeClr>
                </a:solidFill>
                <a:ea typeface="+mn-lt"/>
                <a:cs typeface="+mn-lt"/>
              </a:rPr>
              <a:t>)   +   0.00049 (</a:t>
            </a:r>
            <a:r>
              <a:rPr lang="en-US" sz="1600" b="1" i="1" err="1">
                <a:solidFill>
                  <a:schemeClr val="accent2">
                    <a:lumMod val="10000"/>
                  </a:schemeClr>
                </a:solidFill>
                <a:ea typeface="+mn-lt"/>
                <a:cs typeface="+mn-lt"/>
              </a:rPr>
              <a:t>days_since_last_visit</a:t>
            </a:r>
            <a:r>
              <a:rPr lang="en-US" sz="1600" b="1" i="1">
                <a:solidFill>
                  <a:schemeClr val="accent2">
                    <a:lumMod val="10000"/>
                  </a:schemeClr>
                </a:solidFill>
                <a:ea typeface="+mn-lt"/>
                <a:cs typeface="+mn-lt"/>
              </a:rPr>
              <a:t>)  −   0.090   (</a:t>
            </a:r>
            <a:r>
              <a:rPr lang="en-US" sz="1600" b="1" i="1" err="1">
                <a:solidFill>
                  <a:schemeClr val="accent2">
                    <a:lumMod val="10000"/>
                  </a:schemeClr>
                </a:solidFill>
                <a:ea typeface="+mn-lt"/>
                <a:cs typeface="+mn-lt"/>
              </a:rPr>
              <a:t>wait_time_satisfaction</a:t>
            </a:r>
            <a:r>
              <a:rPr lang="en-US" sz="1600" b="1" i="1">
                <a:solidFill>
                  <a:schemeClr val="accent2">
                    <a:lumMod val="10000"/>
                  </a:schemeClr>
                </a:solidFill>
                <a:ea typeface="+mn-lt"/>
                <a:cs typeface="+mn-lt"/>
              </a:rPr>
              <a:t>)  −  0.05(</a:t>
            </a:r>
            <a:r>
              <a:rPr lang="en-US" sz="1600" b="1" i="1" err="1">
                <a:solidFill>
                  <a:schemeClr val="accent2">
                    <a:lumMod val="10000"/>
                  </a:schemeClr>
                </a:solidFill>
                <a:ea typeface="+mn-lt"/>
                <a:cs typeface="+mn-lt"/>
              </a:rPr>
              <a:t>referrals_made</a:t>
            </a:r>
            <a:r>
              <a:rPr lang="en-US" sz="1600" b="1" i="1">
                <a:solidFill>
                  <a:schemeClr val="accent2">
                    <a:lumMod val="10000"/>
                  </a:schemeClr>
                </a:solidFill>
                <a:ea typeface="+mn-lt"/>
                <a:cs typeface="+mn-lt"/>
              </a:rPr>
              <a:t>)   +  0.0054  (</a:t>
            </a:r>
            <a:r>
              <a:rPr lang="en-US" sz="1600" b="1" i="1" err="1">
                <a:solidFill>
                  <a:schemeClr val="accent2">
                    <a:lumMod val="10000"/>
                  </a:schemeClr>
                </a:solidFill>
                <a:ea typeface="+mn-lt"/>
                <a:cs typeface="+mn-lt"/>
              </a:rPr>
              <a:t>distance_to_facility_miles</a:t>
            </a:r>
            <a:r>
              <a:rPr lang="en-US" sz="1600" b="1" i="1">
                <a:solidFill>
                  <a:schemeClr val="accent2">
                    <a:lumMod val="10000"/>
                  </a:schemeClr>
                </a:solidFill>
                <a:ea typeface="+mn-lt"/>
                <a:cs typeface="+mn-lt"/>
              </a:rPr>
              <a:t> ) </a:t>
            </a:r>
            <a:endParaRPr lang="en-US" sz="1600" b="1" i="1">
              <a:solidFill>
                <a:schemeClr val="accent2">
                  <a:lumMod val="10000"/>
                </a:schemeClr>
              </a:solidFill>
              <a:cs typeface="Arial"/>
            </a:endParaRPr>
          </a:p>
        </p:txBody>
      </p:sp>
      <p:sp>
        <p:nvSpPr>
          <p:cNvPr id="76" name="TextBox 7">
            <a:extLst>
              <a:ext uri="{FF2B5EF4-FFF2-40B4-BE49-F238E27FC236}">
                <a16:creationId xmlns:a16="http://schemas.microsoft.com/office/drawing/2014/main" id="{C6333F3F-3E82-E13C-E891-492B08A2C065}"/>
              </a:ext>
            </a:extLst>
          </p:cNvPr>
          <p:cNvSpPr txBox="1"/>
          <p:nvPr/>
        </p:nvSpPr>
        <p:spPr>
          <a:xfrm>
            <a:off x="804673" y="4194186"/>
            <a:ext cx="5157216" cy="136960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500" b="1"/>
              <a:t>Interpretation Rule</a:t>
            </a:r>
            <a:endParaRPr lang="en-US" sz="1500" b="1">
              <a:cs typeface="Arial"/>
            </a:endParaRPr>
          </a:p>
          <a:p>
            <a:br>
              <a:rPr lang="en-US" sz="800">
                <a:ea typeface="+mn-lt"/>
                <a:cs typeface="+mn-lt"/>
              </a:rPr>
            </a:br>
            <a:r>
              <a:rPr lang="en-US" sz="1500">
                <a:ea typeface="+mn-lt"/>
                <a:cs typeface="+mn-lt"/>
              </a:rPr>
              <a:t>HR = expβ </a:t>
            </a:r>
            <a:endParaRPr lang="en-US" sz="1500">
              <a:cs typeface="Arial"/>
            </a:endParaRPr>
          </a:p>
          <a:p>
            <a:r>
              <a:rPr lang="en-US" sz="1500">
                <a:ea typeface="+mn-lt"/>
                <a:cs typeface="+mn-lt"/>
              </a:rPr>
              <a:t>I If HR &lt; 1 → ↓ Risk = (1−HR)×100</a:t>
            </a:r>
            <a:endParaRPr lang="en-US" sz="1500">
              <a:cs typeface="Arial"/>
            </a:endParaRPr>
          </a:p>
          <a:p>
            <a:r>
              <a:rPr lang="en-US" sz="1500">
                <a:ea typeface="+mn-lt"/>
                <a:cs typeface="+mn-lt"/>
              </a:rPr>
              <a:t>  If HR &gt; 1 → ↑ Risk = (HR−1)×100</a:t>
            </a:r>
            <a:endParaRPr lang="en-US" sz="1500">
              <a:cs typeface="Arial"/>
            </a:endParaRPr>
          </a:p>
          <a:p>
            <a:endParaRPr lang="en-US" sz="15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B8C85"/>
          </a:solidFill>
          <a:ln w="12700">
            <a:solidFill>
              <a:srgbClr val="2B8C8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13232" y="256032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>
                <a:solidFill>
                  <a:srgbClr val="2B8C85"/>
                </a:solidFill>
                <a:latin typeface="Arial"/>
                <a:ea typeface="Arial" pitchFamily="34" charset="-122"/>
                <a:cs typeface="Arial"/>
              </a:rPr>
              <a:t>Patient churn - bs</a:t>
            </a:r>
            <a:endParaRPr lang="en-US" sz="1000"/>
          </a:p>
        </p:txBody>
      </p:sp>
      <p:sp>
        <p:nvSpPr>
          <p:cNvPr id="4" name="Shape 2"/>
          <p:cNvSpPr/>
          <p:nvPr/>
        </p:nvSpPr>
        <p:spPr>
          <a:xfrm>
            <a:off x="8503920" y="374904"/>
            <a:ext cx="2304288" cy="0"/>
          </a:xfrm>
          <a:prstGeom prst="line">
            <a:avLst/>
          </a:prstGeom>
          <a:noFill/>
          <a:ln w="12700">
            <a:solidFill>
              <a:srgbClr val="E6EA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503920" y="292608"/>
            <a:ext cx="164592" cy="164592"/>
          </a:xfrm>
          <a:prstGeom prst="ellipse">
            <a:avLst/>
          </a:prstGeom>
          <a:solidFill>
            <a:srgbClr val="2B8C85"/>
          </a:solidFill>
          <a:ln w="12700">
            <a:solidFill>
              <a:srgbClr val="2B8C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339328" y="475488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</a:t>
            </a:r>
            <a:endParaRPr lang="en-US" sz="750"/>
          </a:p>
        </p:txBody>
      </p:sp>
      <p:sp>
        <p:nvSpPr>
          <p:cNvPr id="7" name="Shape 5"/>
          <p:cNvSpPr/>
          <p:nvPr/>
        </p:nvSpPr>
        <p:spPr>
          <a:xfrm>
            <a:off x="9079992" y="292608"/>
            <a:ext cx="164592" cy="164592"/>
          </a:xfrm>
          <a:prstGeom prst="ellipse">
            <a:avLst/>
          </a:prstGeom>
          <a:solidFill>
            <a:srgbClr val="2B8C85"/>
          </a:solidFill>
          <a:ln w="12700">
            <a:solidFill>
              <a:srgbClr val="2B8C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915400" y="475488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Signals</a:t>
            </a:r>
            <a:endParaRPr lang="en-US" sz="750"/>
          </a:p>
        </p:txBody>
      </p:sp>
      <p:sp>
        <p:nvSpPr>
          <p:cNvPr id="9" name="Shape 7"/>
          <p:cNvSpPr/>
          <p:nvPr/>
        </p:nvSpPr>
        <p:spPr>
          <a:xfrm>
            <a:off x="9656064" y="292608"/>
            <a:ext cx="164592" cy="164592"/>
          </a:xfrm>
          <a:prstGeom prst="ellipse">
            <a:avLst/>
          </a:prstGeom>
          <a:solidFill>
            <a:srgbClr val="2B8C85"/>
          </a:solidFill>
          <a:ln w="12700">
            <a:solidFill>
              <a:srgbClr val="2B8C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491472" y="475488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Prediction</a:t>
            </a:r>
            <a:endParaRPr lang="en-US" sz="750"/>
          </a:p>
        </p:txBody>
      </p:sp>
      <p:sp>
        <p:nvSpPr>
          <p:cNvPr id="11" name="Shape 9"/>
          <p:cNvSpPr/>
          <p:nvPr/>
        </p:nvSpPr>
        <p:spPr>
          <a:xfrm>
            <a:off x="10232136" y="292608"/>
            <a:ext cx="164592" cy="164592"/>
          </a:xfrm>
          <a:prstGeom prst="ellipse">
            <a:avLst/>
          </a:prstGeom>
          <a:solidFill>
            <a:srgbClr val="D95F5F"/>
          </a:solidFill>
          <a:ln w="12700">
            <a:solidFill>
              <a:srgbClr val="D95F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0067544" y="475488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Timing</a:t>
            </a:r>
            <a:endParaRPr lang="en-US" sz="750"/>
          </a:p>
        </p:txBody>
      </p:sp>
      <p:sp>
        <p:nvSpPr>
          <p:cNvPr id="13" name="Shape 11"/>
          <p:cNvSpPr/>
          <p:nvPr/>
        </p:nvSpPr>
        <p:spPr>
          <a:xfrm>
            <a:off x="10808208" y="29260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6EA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0643616" y="475488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</a:t>
            </a:r>
            <a:endParaRPr lang="en-US" sz="750"/>
          </a:p>
        </p:txBody>
      </p:sp>
      <p:sp>
        <p:nvSpPr>
          <p:cNvPr id="15" name="Text 13"/>
          <p:cNvSpPr/>
          <p:nvPr/>
        </p:nvSpPr>
        <p:spPr>
          <a:xfrm>
            <a:off x="713232" y="621792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Builds Slowly, Then Accelerates</a:t>
            </a:r>
            <a:endParaRPr lang="en-US" sz="2500"/>
          </a:p>
        </p:txBody>
      </p:sp>
      <p:sp>
        <p:nvSpPr>
          <p:cNvPr id="16" name="Shape 14"/>
          <p:cNvSpPr/>
          <p:nvPr/>
        </p:nvSpPr>
        <p:spPr>
          <a:xfrm>
            <a:off x="713232" y="1170432"/>
            <a:ext cx="10789920" cy="0"/>
          </a:xfrm>
          <a:prstGeom prst="line">
            <a:avLst/>
          </a:prstGeom>
          <a:noFill/>
          <a:ln w="12700">
            <a:solidFill>
              <a:srgbClr val="E6EA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5"/>
          <p:cNvSpPr/>
          <p:nvPr/>
        </p:nvSpPr>
        <p:spPr>
          <a:xfrm>
            <a:off x="1417320" y="4983480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0F172A"/>
                </a:solidFill>
              </a:rPr>
              <a:t>Probability of remaining active</a:t>
            </a:r>
            <a:endParaRPr lang="en-US" sz="1400"/>
          </a:p>
        </p:txBody>
      </p:sp>
      <p:sp>
        <p:nvSpPr>
          <p:cNvPr id="20" name="Text 16"/>
          <p:cNvSpPr/>
          <p:nvPr/>
        </p:nvSpPr>
        <p:spPr>
          <a:xfrm>
            <a:off x="6766560" y="4983480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0F172A"/>
                </a:solidFill>
              </a:rPr>
              <a:t>Cumulative hazard of churn</a:t>
            </a:r>
            <a:endParaRPr lang="en-US" sz="1400"/>
          </a:p>
        </p:txBody>
      </p:sp>
      <p:sp>
        <p:nvSpPr>
          <p:cNvPr id="21" name="Text 17"/>
          <p:cNvSpPr/>
          <p:nvPr/>
        </p:nvSpPr>
        <p:spPr>
          <a:xfrm>
            <a:off x="914400" y="5266944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>
                <a:solidFill>
                  <a:srgbClr val="475569"/>
                </a:solidFill>
              </a:rPr>
              <a:t>The survival curve declines steadily and drops more sharply after about 90 months.</a:t>
            </a:r>
            <a:endParaRPr lang="en-US" sz="1450"/>
          </a:p>
        </p:txBody>
      </p:sp>
      <p:sp>
        <p:nvSpPr>
          <p:cNvPr id="22" name="Text 18"/>
          <p:cNvSpPr/>
          <p:nvPr/>
        </p:nvSpPr>
        <p:spPr>
          <a:xfrm>
            <a:off x="6355080" y="5266944"/>
            <a:ext cx="4892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>
                <a:solidFill>
                  <a:srgbClr val="475569"/>
                </a:solidFill>
              </a:rPr>
              <a:t>The cumulative hazard curve bends upward late in the timeline, showing acceleration in long-term risk.</a:t>
            </a:r>
            <a:endParaRPr lang="en-US" sz="1450"/>
          </a:p>
        </p:txBody>
      </p:sp>
      <p:sp>
        <p:nvSpPr>
          <p:cNvPr id="23" name="Text 19"/>
          <p:cNvSpPr/>
          <p:nvPr/>
        </p:nvSpPr>
        <p:spPr>
          <a:xfrm>
            <a:off x="11475720" y="6492240"/>
            <a:ext cx="320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DDE13188-E6A8-667A-D433-451D24BA81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165" y="1322451"/>
            <a:ext cx="5287232" cy="347472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116532D2-5739-87DF-0C24-DC130DE00D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2895" y="1353311"/>
            <a:ext cx="5357965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B8C85"/>
          </a:solidFill>
          <a:ln w="12700">
            <a:solidFill>
              <a:srgbClr val="2B8C8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13232" y="256032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>
                <a:solidFill>
                  <a:srgbClr val="2B8C85"/>
                </a:solidFill>
                <a:latin typeface="Arial"/>
                <a:ea typeface="Arial" pitchFamily="34" charset="-122"/>
                <a:cs typeface="Arial"/>
              </a:rPr>
              <a:t>Patient churn- bs</a:t>
            </a:r>
            <a:endParaRPr lang="en-US" sz="1000"/>
          </a:p>
        </p:txBody>
      </p:sp>
      <p:sp>
        <p:nvSpPr>
          <p:cNvPr id="4" name="Shape 2"/>
          <p:cNvSpPr/>
          <p:nvPr/>
        </p:nvSpPr>
        <p:spPr>
          <a:xfrm>
            <a:off x="8503920" y="374904"/>
            <a:ext cx="2304288" cy="0"/>
          </a:xfrm>
          <a:prstGeom prst="line">
            <a:avLst/>
          </a:prstGeom>
          <a:noFill/>
          <a:ln w="12700">
            <a:solidFill>
              <a:srgbClr val="E6EA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503920" y="292608"/>
            <a:ext cx="164592" cy="164592"/>
          </a:xfrm>
          <a:prstGeom prst="ellipse">
            <a:avLst/>
          </a:prstGeom>
          <a:solidFill>
            <a:srgbClr val="2B8C85"/>
          </a:solidFill>
          <a:ln w="12700">
            <a:solidFill>
              <a:srgbClr val="2B8C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339328" y="475488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</a:t>
            </a:r>
            <a:endParaRPr lang="en-US" sz="750"/>
          </a:p>
        </p:txBody>
      </p:sp>
      <p:sp>
        <p:nvSpPr>
          <p:cNvPr id="7" name="Shape 5"/>
          <p:cNvSpPr/>
          <p:nvPr/>
        </p:nvSpPr>
        <p:spPr>
          <a:xfrm>
            <a:off x="9079992" y="292608"/>
            <a:ext cx="164592" cy="164592"/>
          </a:xfrm>
          <a:prstGeom prst="ellipse">
            <a:avLst/>
          </a:prstGeom>
          <a:solidFill>
            <a:srgbClr val="2B8C85"/>
          </a:solidFill>
          <a:ln w="12700">
            <a:solidFill>
              <a:srgbClr val="2B8C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915400" y="475488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Signals</a:t>
            </a:r>
            <a:endParaRPr lang="en-US" sz="750"/>
          </a:p>
        </p:txBody>
      </p:sp>
      <p:sp>
        <p:nvSpPr>
          <p:cNvPr id="9" name="Shape 7"/>
          <p:cNvSpPr/>
          <p:nvPr/>
        </p:nvSpPr>
        <p:spPr>
          <a:xfrm>
            <a:off x="9656064" y="292608"/>
            <a:ext cx="164592" cy="164592"/>
          </a:xfrm>
          <a:prstGeom prst="ellipse">
            <a:avLst/>
          </a:prstGeom>
          <a:solidFill>
            <a:srgbClr val="2B8C85"/>
          </a:solidFill>
          <a:ln w="12700">
            <a:solidFill>
              <a:srgbClr val="2B8C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491472" y="475488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Prediction</a:t>
            </a:r>
            <a:endParaRPr lang="en-US" sz="750"/>
          </a:p>
        </p:txBody>
      </p:sp>
      <p:sp>
        <p:nvSpPr>
          <p:cNvPr id="11" name="Shape 9"/>
          <p:cNvSpPr/>
          <p:nvPr/>
        </p:nvSpPr>
        <p:spPr>
          <a:xfrm>
            <a:off x="10232136" y="292608"/>
            <a:ext cx="164592" cy="164592"/>
          </a:xfrm>
          <a:prstGeom prst="ellipse">
            <a:avLst/>
          </a:prstGeom>
          <a:solidFill>
            <a:srgbClr val="D95F5F"/>
          </a:solidFill>
          <a:ln w="12700">
            <a:solidFill>
              <a:srgbClr val="D95F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0067544" y="475488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Timing</a:t>
            </a:r>
            <a:endParaRPr lang="en-US" sz="750"/>
          </a:p>
        </p:txBody>
      </p:sp>
      <p:sp>
        <p:nvSpPr>
          <p:cNvPr id="13" name="Shape 11"/>
          <p:cNvSpPr/>
          <p:nvPr/>
        </p:nvSpPr>
        <p:spPr>
          <a:xfrm>
            <a:off x="10808208" y="29260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6EA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0643616" y="475488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</a:t>
            </a:r>
            <a:endParaRPr lang="en-US" sz="750"/>
          </a:p>
        </p:txBody>
      </p:sp>
      <p:sp>
        <p:nvSpPr>
          <p:cNvPr id="15" name="Text 13"/>
          <p:cNvSpPr/>
          <p:nvPr/>
        </p:nvSpPr>
        <p:spPr>
          <a:xfrm>
            <a:off x="713232" y="621792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Clinic. Different Journeys.</a:t>
            </a:r>
            <a:endParaRPr lang="en-US" sz="2500"/>
          </a:p>
        </p:txBody>
      </p:sp>
      <p:sp>
        <p:nvSpPr>
          <p:cNvPr id="16" name="Shape 14"/>
          <p:cNvSpPr/>
          <p:nvPr/>
        </p:nvSpPr>
        <p:spPr>
          <a:xfrm>
            <a:off x="713232" y="1170432"/>
            <a:ext cx="10789920" cy="0"/>
          </a:xfrm>
          <a:prstGeom prst="line">
            <a:avLst/>
          </a:prstGeom>
          <a:noFill/>
          <a:ln w="12700">
            <a:solidFill>
              <a:srgbClr val="E6EA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04672" y="1325880"/>
            <a:ext cx="5257800" cy="123444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E6EA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144768" y="1325880"/>
            <a:ext cx="5257800" cy="123444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E6EA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002094" y="1466344"/>
            <a:ext cx="344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5D9C59"/>
                </a:solidFill>
              </a:rPr>
              <a:t>Lower-risk patient</a:t>
            </a:r>
            <a:endParaRPr lang="en-US" sz="1800"/>
          </a:p>
        </p:txBody>
      </p:sp>
      <p:sp>
        <p:nvSpPr>
          <p:cNvPr id="20" name="Text 18"/>
          <p:cNvSpPr/>
          <p:nvPr/>
        </p:nvSpPr>
        <p:spPr>
          <a:xfrm>
            <a:off x="969043" y="1883885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0F172A"/>
                </a:solidFill>
              </a:rPr>
              <a:t>High overall satisfaction • Recent visit (10 days)</a:t>
            </a:r>
            <a:endParaRPr lang="en-US" sz="1400"/>
          </a:p>
          <a:p>
            <a:pPr marL="0" indent="0">
              <a:buNone/>
            </a:pPr>
            <a:r>
              <a:rPr lang="en-US" sz="1400">
                <a:solidFill>
                  <a:srgbClr val="0F172A"/>
                </a:solidFill>
              </a:rPr>
              <a:t>Short distance (5 miles) • High wait-time satisfaction</a:t>
            </a:r>
            <a:endParaRPr lang="en-US" sz="1400"/>
          </a:p>
          <a:p>
            <a:pPr marL="0" indent="0">
              <a:buNone/>
            </a:pPr>
            <a:r>
              <a:rPr lang="en-US" sz="1400">
                <a:solidFill>
                  <a:srgbClr val="0F172A"/>
                </a:solidFill>
              </a:rPr>
              <a:t>Active engagement (2 referrals)</a:t>
            </a:r>
            <a:endParaRPr lang="en-US" sz="1400"/>
          </a:p>
        </p:txBody>
      </p:sp>
      <p:sp>
        <p:nvSpPr>
          <p:cNvPr id="21" name="Text 19"/>
          <p:cNvSpPr/>
          <p:nvPr/>
        </p:nvSpPr>
        <p:spPr>
          <a:xfrm>
            <a:off x="6322029" y="1463040"/>
            <a:ext cx="3465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D95F5F"/>
                </a:solidFill>
              </a:rPr>
              <a:t>Higher-risk patient</a:t>
            </a:r>
            <a:endParaRPr lang="en-US" sz="1800"/>
          </a:p>
        </p:txBody>
      </p:sp>
      <p:sp>
        <p:nvSpPr>
          <p:cNvPr id="22" name="Text 20"/>
          <p:cNvSpPr/>
          <p:nvPr/>
        </p:nvSpPr>
        <p:spPr>
          <a:xfrm>
            <a:off x="6311012" y="1894902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0F172A"/>
                </a:solidFill>
              </a:rPr>
              <a:t>Low overall satisfaction • Long time since visit (90 days)</a:t>
            </a:r>
            <a:endParaRPr lang="en-US" sz="1400"/>
          </a:p>
          <a:p>
            <a:pPr marL="0" indent="0">
              <a:buNone/>
            </a:pPr>
            <a:r>
              <a:rPr lang="en-US" sz="1400">
                <a:solidFill>
                  <a:srgbClr val="0F172A"/>
                </a:solidFill>
              </a:rPr>
              <a:t>Far distance (25 miles) • Low wait-time satisfaction</a:t>
            </a:r>
            <a:endParaRPr lang="en-US" sz="1400"/>
          </a:p>
          <a:p>
            <a:pPr marL="0" indent="0">
              <a:buNone/>
            </a:pPr>
            <a:r>
              <a:rPr lang="en-US" sz="1400">
                <a:solidFill>
                  <a:srgbClr val="0F172A"/>
                </a:solidFill>
              </a:rPr>
              <a:t>No engagement (0 referrals)</a:t>
            </a:r>
            <a:endParaRPr lang="en-US" sz="1400"/>
          </a:p>
        </p:txBody>
      </p:sp>
      <p:sp>
        <p:nvSpPr>
          <p:cNvPr id="25" name="Shape 21"/>
          <p:cNvSpPr/>
          <p:nvPr/>
        </p:nvSpPr>
        <p:spPr>
          <a:xfrm>
            <a:off x="868679" y="5864087"/>
            <a:ext cx="5184647" cy="658368"/>
          </a:xfrm>
          <a:prstGeom prst="roundRect">
            <a:avLst>
              <a:gd name="adj" fmla="val 5556"/>
            </a:avLst>
          </a:prstGeom>
          <a:solidFill>
            <a:srgbClr val="DCEFEB"/>
          </a:solidFill>
          <a:ln w="12700">
            <a:solidFill>
              <a:srgbClr val="DCEF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2"/>
          <p:cNvSpPr/>
          <p:nvPr/>
        </p:nvSpPr>
        <p:spPr>
          <a:xfrm>
            <a:off x="1078992" y="6046967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80" b="1">
                <a:solidFill>
                  <a:srgbClr val="0F172A"/>
                </a:solidFill>
              </a:rPr>
              <a:t>At month </a:t>
            </a:r>
            <a:r>
              <a:rPr lang="en-US" sz="1480" b="1">
                <a:solidFill>
                  <a:srgbClr val="0F172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60</a:t>
            </a:r>
            <a:r>
              <a:rPr lang="en-US" sz="1480" b="1">
                <a:solidFill>
                  <a:srgbClr val="0F172A"/>
                </a:solidFill>
              </a:rPr>
              <a:t>, survival is 76.7% for the lower-risk patient versus 55.9% for the higher-risk patient.</a:t>
            </a:r>
            <a:endParaRPr lang="en-US" sz="1480"/>
          </a:p>
        </p:txBody>
      </p:sp>
      <p:sp>
        <p:nvSpPr>
          <p:cNvPr id="27" name="Shape 23"/>
          <p:cNvSpPr/>
          <p:nvPr/>
        </p:nvSpPr>
        <p:spPr>
          <a:xfrm>
            <a:off x="6217920" y="5864087"/>
            <a:ext cx="5184648" cy="658368"/>
          </a:xfrm>
          <a:prstGeom prst="roundRect">
            <a:avLst>
              <a:gd name="adj" fmla="val 5556"/>
            </a:avLst>
          </a:prstGeom>
          <a:solidFill>
            <a:srgbClr val="FCE5E1"/>
          </a:solidFill>
          <a:ln w="12700">
            <a:solidFill>
              <a:srgbClr val="FCE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4"/>
          <p:cNvSpPr/>
          <p:nvPr/>
        </p:nvSpPr>
        <p:spPr>
          <a:xfrm>
            <a:off x="6419088" y="6046967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80" b="1">
                <a:solidFill>
                  <a:srgbClr val="0F172A"/>
                </a:solidFill>
              </a:rPr>
              <a:t>At month </a:t>
            </a:r>
            <a:r>
              <a:rPr lang="en-US" sz="1480" b="1">
                <a:solidFill>
                  <a:srgbClr val="0F172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75</a:t>
            </a:r>
            <a:r>
              <a:rPr lang="en-US" sz="1480" b="1">
                <a:solidFill>
                  <a:srgbClr val="0F172A"/>
                </a:solidFill>
              </a:rPr>
              <a:t>, cumulative risk is 0.37 versus 0.81 — same environment, very different outcomes.</a:t>
            </a:r>
            <a:endParaRPr lang="en-US" sz="1480"/>
          </a:p>
        </p:txBody>
      </p:sp>
      <p:sp>
        <p:nvSpPr>
          <p:cNvPr id="29" name="Text 25"/>
          <p:cNvSpPr/>
          <p:nvPr/>
        </p:nvSpPr>
        <p:spPr>
          <a:xfrm>
            <a:off x="11475720" y="6492240"/>
            <a:ext cx="320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EB2663E5-D532-9330-A335-7013220FB5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3636" y="2634877"/>
            <a:ext cx="5188932" cy="3200400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6C85E53E-7CC0-1447-618D-E24FAFF11C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720" y="2634877"/>
            <a:ext cx="5244752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713232" y="256032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>
                <a:solidFill>
                  <a:srgbClr val="2B8C85"/>
                </a:solidFill>
                <a:latin typeface="Arial"/>
                <a:ea typeface="Arial" pitchFamily="34" charset="-122"/>
                <a:cs typeface="Arial"/>
              </a:rPr>
              <a:t>Patient churn - </a:t>
            </a:r>
            <a:r>
              <a:rPr lang="en-US" sz="1000" b="1" err="1">
                <a:solidFill>
                  <a:srgbClr val="2B8C85"/>
                </a:solidFill>
                <a:latin typeface="Arial"/>
                <a:ea typeface="Arial" pitchFamily="34" charset="-122"/>
                <a:cs typeface="Arial"/>
              </a:rPr>
              <a:t>sdi</a:t>
            </a:r>
            <a:endParaRPr lang="en-US" sz="1000"/>
          </a:p>
        </p:txBody>
      </p:sp>
      <p:sp>
        <p:nvSpPr>
          <p:cNvPr id="4" name="Shape 2"/>
          <p:cNvSpPr/>
          <p:nvPr/>
        </p:nvSpPr>
        <p:spPr>
          <a:xfrm>
            <a:off x="8503920" y="374904"/>
            <a:ext cx="2304288" cy="0"/>
          </a:xfrm>
          <a:prstGeom prst="line">
            <a:avLst/>
          </a:prstGeom>
          <a:noFill/>
          <a:ln w="12700">
            <a:solidFill>
              <a:srgbClr val="E6EA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503920" y="292608"/>
            <a:ext cx="164592" cy="164592"/>
          </a:xfrm>
          <a:prstGeom prst="ellipse">
            <a:avLst/>
          </a:prstGeom>
          <a:solidFill>
            <a:srgbClr val="2B8C85"/>
          </a:solidFill>
          <a:ln w="12700">
            <a:solidFill>
              <a:srgbClr val="2B8C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339328" y="475488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</a:t>
            </a:r>
            <a:endParaRPr lang="en-US" sz="750"/>
          </a:p>
        </p:txBody>
      </p:sp>
      <p:sp>
        <p:nvSpPr>
          <p:cNvPr id="7" name="Shape 5"/>
          <p:cNvSpPr/>
          <p:nvPr/>
        </p:nvSpPr>
        <p:spPr>
          <a:xfrm>
            <a:off x="9079992" y="292608"/>
            <a:ext cx="164592" cy="164592"/>
          </a:xfrm>
          <a:prstGeom prst="ellipse">
            <a:avLst/>
          </a:prstGeom>
          <a:solidFill>
            <a:srgbClr val="2B8C85"/>
          </a:solidFill>
          <a:ln w="12700">
            <a:solidFill>
              <a:srgbClr val="2B8C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915400" y="475488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Signals</a:t>
            </a:r>
            <a:endParaRPr lang="en-US" sz="750"/>
          </a:p>
        </p:txBody>
      </p:sp>
      <p:sp>
        <p:nvSpPr>
          <p:cNvPr id="9" name="Shape 7"/>
          <p:cNvSpPr/>
          <p:nvPr/>
        </p:nvSpPr>
        <p:spPr>
          <a:xfrm>
            <a:off x="9656064" y="292608"/>
            <a:ext cx="164592" cy="164592"/>
          </a:xfrm>
          <a:prstGeom prst="ellipse">
            <a:avLst/>
          </a:prstGeom>
          <a:solidFill>
            <a:srgbClr val="2B8C85"/>
          </a:solidFill>
          <a:ln w="12700">
            <a:solidFill>
              <a:srgbClr val="2B8C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491472" y="475488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Prediction</a:t>
            </a:r>
            <a:endParaRPr lang="en-US" sz="750"/>
          </a:p>
        </p:txBody>
      </p:sp>
      <p:sp>
        <p:nvSpPr>
          <p:cNvPr id="11" name="Shape 9"/>
          <p:cNvSpPr/>
          <p:nvPr/>
        </p:nvSpPr>
        <p:spPr>
          <a:xfrm>
            <a:off x="10232136" y="292608"/>
            <a:ext cx="164592" cy="164592"/>
          </a:xfrm>
          <a:prstGeom prst="ellipse">
            <a:avLst/>
          </a:prstGeom>
          <a:solidFill>
            <a:srgbClr val="2B8C85"/>
          </a:solidFill>
          <a:ln w="12700">
            <a:solidFill>
              <a:srgbClr val="2B8C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0067544" y="475488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Timing</a:t>
            </a:r>
            <a:endParaRPr lang="en-US" sz="750"/>
          </a:p>
        </p:txBody>
      </p:sp>
      <p:sp>
        <p:nvSpPr>
          <p:cNvPr id="13" name="Shape 11"/>
          <p:cNvSpPr/>
          <p:nvPr/>
        </p:nvSpPr>
        <p:spPr>
          <a:xfrm>
            <a:off x="10808208" y="292608"/>
            <a:ext cx="164592" cy="164592"/>
          </a:xfrm>
          <a:prstGeom prst="ellipse">
            <a:avLst/>
          </a:prstGeom>
          <a:solidFill>
            <a:srgbClr val="D95F5F"/>
          </a:solidFill>
          <a:ln w="12700">
            <a:solidFill>
              <a:srgbClr val="D95F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0643616" y="475488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</a:t>
            </a:r>
            <a:endParaRPr lang="en-US" sz="750"/>
          </a:p>
        </p:txBody>
      </p:sp>
      <p:sp>
        <p:nvSpPr>
          <p:cNvPr id="15" name="Text 13"/>
          <p:cNvSpPr/>
          <p:nvPr/>
        </p:nvSpPr>
        <p:spPr>
          <a:xfrm>
            <a:off x="713232" y="621792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Drives Patients Away?</a:t>
            </a:r>
            <a:endParaRPr lang="en-US" sz="2500"/>
          </a:p>
        </p:txBody>
      </p:sp>
      <p:sp>
        <p:nvSpPr>
          <p:cNvPr id="16" name="Shape 14"/>
          <p:cNvSpPr/>
          <p:nvPr/>
        </p:nvSpPr>
        <p:spPr>
          <a:xfrm>
            <a:off x="713232" y="1170432"/>
            <a:ext cx="10789920" cy="0"/>
          </a:xfrm>
          <a:prstGeom prst="line">
            <a:avLst/>
          </a:prstGeom>
          <a:noFill/>
          <a:ln w="12700">
            <a:solidFill>
              <a:srgbClr val="E6EA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68680" y="1645920"/>
            <a:ext cx="201168" cy="0"/>
          </a:xfrm>
          <a:prstGeom prst="line">
            <a:avLst/>
          </a:prstGeom>
          <a:noFill/>
          <a:ln w="12700">
            <a:solidFill>
              <a:srgbClr val="D95F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170432" y="1463040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>
                <a:solidFill>
                  <a:srgbClr val="0F172A"/>
                </a:solidFill>
              </a:rPr>
              <a:t>Lower satisfaction with care</a:t>
            </a:r>
            <a:endParaRPr lang="en-US" sz="1750"/>
          </a:p>
        </p:txBody>
      </p:sp>
      <p:sp>
        <p:nvSpPr>
          <p:cNvPr id="19" name="Text 17"/>
          <p:cNvSpPr/>
          <p:nvPr/>
        </p:nvSpPr>
        <p:spPr>
          <a:xfrm>
            <a:off x="1170432" y="1719072"/>
            <a:ext cx="4343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20">
                <a:solidFill>
                  <a:srgbClr val="475569"/>
                </a:solidFill>
              </a:rPr>
              <a:t>Overall and wait-time satisfaction were among the strongest statistical signals.</a:t>
            </a:r>
            <a:endParaRPr lang="en-US" sz="1420"/>
          </a:p>
        </p:txBody>
      </p:sp>
      <p:sp>
        <p:nvSpPr>
          <p:cNvPr id="20" name="Shape 18"/>
          <p:cNvSpPr/>
          <p:nvPr/>
        </p:nvSpPr>
        <p:spPr>
          <a:xfrm>
            <a:off x="868680" y="2514600"/>
            <a:ext cx="201168" cy="0"/>
          </a:xfrm>
          <a:prstGeom prst="line">
            <a:avLst/>
          </a:prstGeom>
          <a:noFill/>
          <a:ln w="12700">
            <a:solidFill>
              <a:srgbClr val="D95F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170432" y="2331720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>
                <a:solidFill>
                  <a:srgbClr val="0F172A"/>
                </a:solidFill>
              </a:rPr>
              <a:t>Longer gaps since last visit</a:t>
            </a:r>
            <a:endParaRPr lang="en-US" sz="1750"/>
          </a:p>
        </p:txBody>
      </p:sp>
      <p:sp>
        <p:nvSpPr>
          <p:cNvPr id="22" name="Text 20"/>
          <p:cNvSpPr/>
          <p:nvPr/>
        </p:nvSpPr>
        <p:spPr>
          <a:xfrm>
            <a:off x="1170432" y="2587752"/>
            <a:ext cx="4343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20">
                <a:solidFill>
                  <a:srgbClr val="475569"/>
                </a:solidFill>
              </a:rPr>
              <a:t>Days since last visit mattered in both the classification and survival analyses.</a:t>
            </a:r>
            <a:endParaRPr lang="en-US" sz="1420"/>
          </a:p>
        </p:txBody>
      </p:sp>
      <p:sp>
        <p:nvSpPr>
          <p:cNvPr id="23" name="Shape 21"/>
          <p:cNvSpPr/>
          <p:nvPr/>
        </p:nvSpPr>
        <p:spPr>
          <a:xfrm>
            <a:off x="868680" y="3383280"/>
            <a:ext cx="201168" cy="0"/>
          </a:xfrm>
          <a:prstGeom prst="line">
            <a:avLst/>
          </a:prstGeom>
          <a:noFill/>
          <a:ln w="12700">
            <a:solidFill>
              <a:srgbClr val="D95F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170432" y="3200400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>
                <a:solidFill>
                  <a:srgbClr val="0F172A"/>
                </a:solidFill>
              </a:rPr>
              <a:t>Access and cost friction</a:t>
            </a:r>
            <a:endParaRPr lang="en-US" sz="1750"/>
          </a:p>
        </p:txBody>
      </p:sp>
      <p:sp>
        <p:nvSpPr>
          <p:cNvPr id="25" name="Text 23"/>
          <p:cNvSpPr/>
          <p:nvPr/>
        </p:nvSpPr>
        <p:spPr>
          <a:xfrm>
            <a:off x="1170432" y="3456432"/>
            <a:ext cx="4343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20">
                <a:solidFill>
                  <a:srgbClr val="475569"/>
                </a:solidFill>
              </a:rPr>
              <a:t>Distance and out-of-pocket cost both moved in the direction of higher churn risk.</a:t>
            </a:r>
            <a:endParaRPr lang="en-US" sz="1420"/>
          </a:p>
        </p:txBody>
      </p:sp>
      <p:sp>
        <p:nvSpPr>
          <p:cNvPr id="26" name="Shape 24"/>
          <p:cNvSpPr/>
          <p:nvPr/>
        </p:nvSpPr>
        <p:spPr>
          <a:xfrm>
            <a:off x="868680" y="4251960"/>
            <a:ext cx="201168" cy="0"/>
          </a:xfrm>
          <a:prstGeom prst="line">
            <a:avLst/>
          </a:prstGeom>
          <a:noFill/>
          <a:ln w="12700">
            <a:solidFill>
              <a:srgbClr val="D95F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1170432" y="4069080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>
                <a:solidFill>
                  <a:srgbClr val="0F172A"/>
                </a:solidFill>
              </a:rPr>
              <a:t>Reduced engagement</a:t>
            </a:r>
            <a:endParaRPr lang="en-US" sz="1750"/>
          </a:p>
        </p:txBody>
      </p:sp>
      <p:sp>
        <p:nvSpPr>
          <p:cNvPr id="28" name="Text 26"/>
          <p:cNvSpPr/>
          <p:nvPr/>
        </p:nvSpPr>
        <p:spPr>
          <a:xfrm>
            <a:off x="1170432" y="4325112"/>
            <a:ext cx="4343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20">
                <a:solidFill>
                  <a:srgbClr val="475569"/>
                </a:solidFill>
              </a:rPr>
              <a:t>Missed appointments and weaker digital/relationship touchpoints signaled drift.</a:t>
            </a:r>
            <a:endParaRPr lang="en-US" sz="1420"/>
          </a:p>
        </p:txBody>
      </p:sp>
      <p:sp>
        <p:nvSpPr>
          <p:cNvPr id="29" name="Shape 27"/>
          <p:cNvSpPr/>
          <p:nvPr/>
        </p:nvSpPr>
        <p:spPr>
          <a:xfrm>
            <a:off x="5852160" y="1508760"/>
            <a:ext cx="5074920" cy="1965960"/>
          </a:xfrm>
          <a:prstGeom prst="roundRect">
            <a:avLst>
              <a:gd name="adj" fmla="val 2326"/>
            </a:avLst>
          </a:prstGeom>
          <a:solidFill>
            <a:srgbClr val="DCEFEB"/>
          </a:solidFill>
          <a:ln w="12700">
            <a:solidFill>
              <a:srgbClr val="DCEF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172200" y="1993392"/>
            <a:ext cx="4434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>
                <a:solidFill>
                  <a:srgbClr val="0F172A"/>
                </a:solidFill>
              </a:rPr>
              <a:t>Machine learning helped identify who may leave.</a:t>
            </a:r>
            <a:endParaRPr lang="en-US" sz="2100"/>
          </a:p>
          <a:p>
            <a:pPr marL="0" indent="0" algn="ctr">
              <a:buNone/>
            </a:pPr>
            <a:r>
              <a:rPr lang="en-US" sz="2100" b="1">
                <a:solidFill>
                  <a:srgbClr val="0F172A"/>
                </a:solidFill>
              </a:rPr>
              <a:t>Survival analysis revealed when risk begins to accelerate.</a:t>
            </a:r>
            <a:endParaRPr lang="en-US" sz="2100"/>
          </a:p>
        </p:txBody>
      </p:sp>
      <p:sp>
        <p:nvSpPr>
          <p:cNvPr id="31" name="Shape 29"/>
          <p:cNvSpPr/>
          <p:nvPr/>
        </p:nvSpPr>
        <p:spPr>
          <a:xfrm>
            <a:off x="5852160" y="4120764"/>
            <a:ext cx="5074920" cy="115532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E6EA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953539" y="4174434"/>
            <a:ext cx="1776719" cy="2480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D95F5F"/>
                </a:solidFill>
              </a:rPr>
              <a:t>Limitations</a:t>
            </a:r>
            <a:endParaRPr lang="en-US" sz="1400"/>
          </a:p>
        </p:txBody>
      </p:sp>
      <p:sp>
        <p:nvSpPr>
          <p:cNvPr id="33" name="Text 31"/>
          <p:cNvSpPr/>
          <p:nvPr/>
        </p:nvSpPr>
        <p:spPr>
          <a:xfrm>
            <a:off x="5953539" y="4502424"/>
            <a:ext cx="485466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>
                <a:solidFill>
                  <a:srgbClr val="0F172A"/>
                </a:solidFill>
              </a:rPr>
              <a:t>• Predictive performance is moderate rather than perfect.</a:t>
            </a:r>
            <a:endParaRPr lang="en-US" sz="1500"/>
          </a:p>
          <a:p>
            <a:pPr marL="0" indent="0">
              <a:buNone/>
            </a:pPr>
            <a:r>
              <a:rPr lang="en-US" sz="1500">
                <a:solidFill>
                  <a:srgbClr val="0F172A"/>
                </a:solidFill>
              </a:rPr>
              <a:t>• Cox PH assumes effects stay fairly constant over time.</a:t>
            </a:r>
            <a:endParaRPr lang="en-US" sz="1500"/>
          </a:p>
          <a:p>
            <a:pPr marL="0" indent="0">
              <a:buNone/>
            </a:pPr>
            <a:r>
              <a:rPr lang="en-US" sz="1500">
                <a:solidFill>
                  <a:srgbClr val="0F172A"/>
                </a:solidFill>
              </a:rPr>
              <a:t>• No single variable explains churn on its own.</a:t>
            </a:r>
            <a:endParaRPr lang="en-US" sz="1500"/>
          </a:p>
        </p:txBody>
      </p:sp>
      <p:sp>
        <p:nvSpPr>
          <p:cNvPr id="34" name="Text 32"/>
          <p:cNvSpPr/>
          <p:nvPr/>
        </p:nvSpPr>
        <p:spPr>
          <a:xfrm>
            <a:off x="822960" y="5669280"/>
            <a:ext cx="10241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>
                <a:solidFill>
                  <a:srgbClr val="475569"/>
                </a:solidFill>
              </a:rPr>
              <a:t>This means patient retention is a human experience problem as much as a modeling problem.</a:t>
            </a:r>
            <a:endParaRPr lang="en-US" sz="1600"/>
          </a:p>
        </p:txBody>
      </p:sp>
      <p:sp>
        <p:nvSpPr>
          <p:cNvPr id="35" name="Text 33"/>
          <p:cNvSpPr/>
          <p:nvPr/>
        </p:nvSpPr>
        <p:spPr>
          <a:xfrm>
            <a:off x="11475720" y="6492240"/>
            <a:ext cx="320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/>
          </a:p>
        </p:txBody>
      </p:sp>
      <p:sp>
        <p:nvSpPr>
          <p:cNvPr id="36" name="Shape 0">
            <a:extLst>
              <a:ext uri="{FF2B5EF4-FFF2-40B4-BE49-F238E27FC236}">
                <a16:creationId xmlns:a16="http://schemas.microsoft.com/office/drawing/2014/main" id="{179ACB25-33EB-4991-78B1-D5A2DE69B41F}"/>
              </a:ext>
            </a:extLst>
          </p:cNvPr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chemeClr val="accent5"/>
          </a:solidFill>
          <a:ln w="12700">
            <a:solidFill>
              <a:srgbClr val="2B8C8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B8C85"/>
          </a:solidFill>
          <a:ln w="12700">
            <a:solidFill>
              <a:srgbClr val="2B8C8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13232" y="256032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>
                <a:solidFill>
                  <a:srgbClr val="2B8C85"/>
                </a:solidFill>
                <a:latin typeface="Arial"/>
                <a:ea typeface="Arial" pitchFamily="34" charset="-122"/>
                <a:cs typeface="Arial"/>
              </a:rPr>
              <a:t>Patient churn - </a:t>
            </a:r>
            <a:r>
              <a:rPr lang="en-US" sz="1000" b="1" err="1">
                <a:solidFill>
                  <a:srgbClr val="2B8C85"/>
                </a:solidFill>
                <a:latin typeface="Arial"/>
                <a:ea typeface="Arial" pitchFamily="34" charset="-122"/>
                <a:cs typeface="Arial"/>
              </a:rPr>
              <a:t>sdi</a:t>
            </a:r>
            <a:endParaRPr lang="en-US" sz="1000" err="1">
              <a:cs typeface="Arial"/>
            </a:endParaRPr>
          </a:p>
        </p:txBody>
      </p:sp>
      <p:sp>
        <p:nvSpPr>
          <p:cNvPr id="4" name="Shape 2"/>
          <p:cNvSpPr/>
          <p:nvPr/>
        </p:nvSpPr>
        <p:spPr>
          <a:xfrm>
            <a:off x="8503920" y="374904"/>
            <a:ext cx="2304288" cy="0"/>
          </a:xfrm>
          <a:prstGeom prst="line">
            <a:avLst/>
          </a:prstGeom>
          <a:noFill/>
          <a:ln w="12700">
            <a:solidFill>
              <a:srgbClr val="E6EA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503920" y="292608"/>
            <a:ext cx="164592" cy="164592"/>
          </a:xfrm>
          <a:prstGeom prst="ellipse">
            <a:avLst/>
          </a:prstGeom>
          <a:solidFill>
            <a:srgbClr val="2B8C85"/>
          </a:solidFill>
          <a:ln w="12700">
            <a:solidFill>
              <a:srgbClr val="2B8C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339328" y="475488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</a:t>
            </a:r>
            <a:endParaRPr lang="en-US" sz="750"/>
          </a:p>
        </p:txBody>
      </p:sp>
      <p:sp>
        <p:nvSpPr>
          <p:cNvPr id="7" name="Shape 5"/>
          <p:cNvSpPr/>
          <p:nvPr/>
        </p:nvSpPr>
        <p:spPr>
          <a:xfrm>
            <a:off x="9079992" y="292608"/>
            <a:ext cx="164592" cy="164592"/>
          </a:xfrm>
          <a:prstGeom prst="ellipse">
            <a:avLst/>
          </a:prstGeom>
          <a:solidFill>
            <a:srgbClr val="2B8C85"/>
          </a:solidFill>
          <a:ln w="12700">
            <a:solidFill>
              <a:srgbClr val="2B8C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915400" y="475488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Signals</a:t>
            </a:r>
            <a:endParaRPr lang="en-US" sz="750"/>
          </a:p>
        </p:txBody>
      </p:sp>
      <p:sp>
        <p:nvSpPr>
          <p:cNvPr id="9" name="Shape 7"/>
          <p:cNvSpPr/>
          <p:nvPr/>
        </p:nvSpPr>
        <p:spPr>
          <a:xfrm>
            <a:off x="9656064" y="292608"/>
            <a:ext cx="164592" cy="164592"/>
          </a:xfrm>
          <a:prstGeom prst="ellipse">
            <a:avLst/>
          </a:prstGeom>
          <a:solidFill>
            <a:srgbClr val="2B8C85"/>
          </a:solidFill>
          <a:ln w="12700">
            <a:solidFill>
              <a:srgbClr val="2B8C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491472" y="475488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Prediction</a:t>
            </a:r>
            <a:endParaRPr lang="en-US" sz="750"/>
          </a:p>
        </p:txBody>
      </p:sp>
      <p:sp>
        <p:nvSpPr>
          <p:cNvPr id="11" name="Shape 9"/>
          <p:cNvSpPr/>
          <p:nvPr/>
        </p:nvSpPr>
        <p:spPr>
          <a:xfrm>
            <a:off x="10232136" y="292608"/>
            <a:ext cx="164592" cy="164592"/>
          </a:xfrm>
          <a:prstGeom prst="ellipse">
            <a:avLst/>
          </a:prstGeom>
          <a:solidFill>
            <a:srgbClr val="2B8C85"/>
          </a:solidFill>
          <a:ln w="12700">
            <a:solidFill>
              <a:srgbClr val="2B8C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0067544" y="475488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Timing</a:t>
            </a:r>
            <a:endParaRPr lang="en-US" sz="750"/>
          </a:p>
        </p:txBody>
      </p:sp>
      <p:sp>
        <p:nvSpPr>
          <p:cNvPr id="13" name="Shape 11"/>
          <p:cNvSpPr/>
          <p:nvPr/>
        </p:nvSpPr>
        <p:spPr>
          <a:xfrm>
            <a:off x="10808208" y="292608"/>
            <a:ext cx="164592" cy="164592"/>
          </a:xfrm>
          <a:prstGeom prst="ellipse">
            <a:avLst/>
          </a:prstGeom>
          <a:solidFill>
            <a:srgbClr val="D95F5F"/>
          </a:solidFill>
          <a:ln w="12700">
            <a:solidFill>
              <a:srgbClr val="D95F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0643616" y="475488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</a:t>
            </a:r>
            <a:endParaRPr lang="en-US" sz="750"/>
          </a:p>
        </p:txBody>
      </p:sp>
      <p:sp>
        <p:nvSpPr>
          <p:cNvPr id="15" name="Text 13"/>
          <p:cNvSpPr/>
          <p:nvPr/>
        </p:nvSpPr>
        <p:spPr>
          <a:xfrm>
            <a:off x="713232" y="621792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Intervene Before Disengagement Becomes Departure</a:t>
            </a:r>
            <a:endParaRPr lang="en-US" sz="2500"/>
          </a:p>
        </p:txBody>
      </p:sp>
      <p:sp>
        <p:nvSpPr>
          <p:cNvPr id="16" name="Shape 14"/>
          <p:cNvSpPr/>
          <p:nvPr/>
        </p:nvSpPr>
        <p:spPr>
          <a:xfrm>
            <a:off x="713232" y="1170432"/>
            <a:ext cx="10789920" cy="0"/>
          </a:xfrm>
          <a:prstGeom prst="line">
            <a:avLst/>
          </a:prstGeom>
          <a:noFill/>
          <a:ln w="12700">
            <a:solidFill>
              <a:srgbClr val="E6EA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41248" y="1417320"/>
            <a:ext cx="5120640" cy="2487165"/>
          </a:xfrm>
          <a:prstGeom prst="roundRect">
            <a:avLst>
              <a:gd name="adj" fmla="val 1351"/>
            </a:avLst>
          </a:prstGeom>
          <a:solidFill>
            <a:srgbClr val="FFFFFF"/>
          </a:solidFill>
          <a:ln w="12700">
            <a:solidFill>
              <a:srgbClr val="E6EA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236208" y="1417320"/>
            <a:ext cx="5120640" cy="2487165"/>
          </a:xfrm>
          <a:prstGeom prst="roundRect">
            <a:avLst>
              <a:gd name="adj" fmla="val 1351"/>
            </a:avLst>
          </a:prstGeom>
          <a:solidFill>
            <a:srgbClr val="FFFFFF"/>
          </a:solidFill>
          <a:ln w="12700">
            <a:solidFill>
              <a:srgbClr val="E6EA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097279" y="1755648"/>
            <a:ext cx="419033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5D9C59"/>
                </a:solidFill>
              </a:rPr>
              <a:t>Low-risk patients</a:t>
            </a:r>
            <a:endParaRPr lang="en-US" sz="2200"/>
          </a:p>
          <a:p>
            <a:pPr marL="0" indent="0">
              <a:buNone/>
            </a:pPr>
            <a:r>
              <a:rPr lang="en-US" sz="2200" b="1">
                <a:solidFill>
                  <a:srgbClr val="5D9C59"/>
                </a:solidFill>
              </a:rPr>
              <a:t>Maintain momentum</a:t>
            </a:r>
            <a:endParaRPr lang="en-US" sz="2200"/>
          </a:p>
        </p:txBody>
      </p:sp>
      <p:sp>
        <p:nvSpPr>
          <p:cNvPr id="20" name="Text 18"/>
          <p:cNvSpPr/>
          <p:nvPr/>
        </p:nvSpPr>
        <p:spPr>
          <a:xfrm>
            <a:off x="1097280" y="2468880"/>
            <a:ext cx="4389120" cy="1325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650">
                <a:solidFill>
                  <a:srgbClr val="0F172A"/>
                </a:solidFill>
              </a:rPr>
              <a:t>• Reinforce satisfaction and service quality</a:t>
            </a:r>
            <a:endParaRPr lang="en-US" sz="1650"/>
          </a:p>
          <a:p>
            <a:pPr marL="0" indent="0">
              <a:buNone/>
            </a:pPr>
            <a:r>
              <a:rPr lang="en-US" sz="1650">
                <a:solidFill>
                  <a:srgbClr val="0F172A"/>
                </a:solidFill>
              </a:rPr>
              <a:t>• Encourage routine visits and referrals</a:t>
            </a:r>
            <a:endParaRPr lang="en-US" sz="1650"/>
          </a:p>
          <a:p>
            <a:pPr marL="0" indent="0">
              <a:buNone/>
            </a:pPr>
            <a:r>
              <a:rPr lang="en-US" sz="1650">
                <a:solidFill>
                  <a:srgbClr val="0F172A"/>
                </a:solidFill>
              </a:rPr>
              <a:t>• Keep digital engagement active</a:t>
            </a:r>
            <a:endParaRPr lang="en-US" sz="1650"/>
          </a:p>
          <a:p>
            <a:pPr marL="0" indent="0">
              <a:buNone/>
            </a:pPr>
            <a:r>
              <a:rPr lang="en-US" sz="1650">
                <a:solidFill>
                  <a:srgbClr val="0F172A"/>
                </a:solidFill>
              </a:rPr>
              <a:t>• Protect continuity before friction appears</a:t>
            </a:r>
            <a:endParaRPr lang="en-US" sz="1650"/>
          </a:p>
        </p:txBody>
      </p:sp>
      <p:sp>
        <p:nvSpPr>
          <p:cNvPr id="21" name="Text 19"/>
          <p:cNvSpPr/>
          <p:nvPr/>
        </p:nvSpPr>
        <p:spPr>
          <a:xfrm>
            <a:off x="6492240" y="1755648"/>
            <a:ext cx="4315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D95F5F"/>
                </a:solidFill>
              </a:rPr>
              <a:t>High-risk patients</a:t>
            </a:r>
            <a:endParaRPr lang="en-US" sz="2200"/>
          </a:p>
          <a:p>
            <a:pPr marL="0" indent="0">
              <a:buNone/>
            </a:pPr>
            <a:r>
              <a:rPr lang="en-US" sz="2200" b="1">
                <a:solidFill>
                  <a:srgbClr val="D95F5F"/>
                </a:solidFill>
              </a:rPr>
              <a:t>Slow disengagement</a:t>
            </a:r>
            <a:endParaRPr lang="en-US" sz="2200"/>
          </a:p>
        </p:txBody>
      </p:sp>
      <p:sp>
        <p:nvSpPr>
          <p:cNvPr id="22" name="Text 20"/>
          <p:cNvSpPr/>
          <p:nvPr/>
        </p:nvSpPr>
        <p:spPr>
          <a:xfrm>
            <a:off x="6492240" y="2468880"/>
            <a:ext cx="4389120" cy="1325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650">
                <a:solidFill>
                  <a:srgbClr val="0F172A"/>
                </a:solidFill>
              </a:rPr>
              <a:t>• Trigger outreach when inactivity grows</a:t>
            </a:r>
            <a:endParaRPr lang="en-US" sz="1650"/>
          </a:p>
          <a:p>
            <a:pPr marL="0" indent="0">
              <a:buNone/>
            </a:pPr>
            <a:r>
              <a:rPr lang="en-US" sz="1650">
                <a:solidFill>
                  <a:srgbClr val="0F172A"/>
                </a:solidFill>
              </a:rPr>
              <a:t>• Reduce time since last visit</a:t>
            </a:r>
            <a:endParaRPr lang="en-US" sz="1650"/>
          </a:p>
          <a:p>
            <a:pPr marL="0" indent="0">
              <a:buNone/>
            </a:pPr>
            <a:r>
              <a:rPr lang="en-US" sz="1650">
                <a:solidFill>
                  <a:srgbClr val="0F172A"/>
                </a:solidFill>
              </a:rPr>
              <a:t>• Improve wait time and service experience</a:t>
            </a:r>
            <a:endParaRPr lang="en-US" sz="1650"/>
          </a:p>
          <a:p>
            <a:pPr marL="0" indent="0">
              <a:buNone/>
            </a:pPr>
            <a:r>
              <a:rPr lang="en-US" sz="1650">
                <a:solidFill>
                  <a:srgbClr val="0F172A"/>
                </a:solidFill>
              </a:rPr>
              <a:t>• Address distance and financial barriers early</a:t>
            </a:r>
            <a:endParaRPr lang="en-US" sz="1650"/>
          </a:p>
        </p:txBody>
      </p:sp>
      <p:sp>
        <p:nvSpPr>
          <p:cNvPr id="23" name="Shape 21"/>
          <p:cNvSpPr/>
          <p:nvPr/>
        </p:nvSpPr>
        <p:spPr>
          <a:xfrm>
            <a:off x="841248" y="4349932"/>
            <a:ext cx="10515600" cy="804672"/>
          </a:xfrm>
          <a:prstGeom prst="roundRect">
            <a:avLst>
              <a:gd name="adj" fmla="val 5682"/>
            </a:avLst>
          </a:prstGeom>
          <a:solidFill>
            <a:srgbClr val="F2E9D8"/>
          </a:solidFill>
          <a:ln w="12700">
            <a:solidFill>
              <a:srgbClr val="F2E9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093369" y="4348566"/>
            <a:ext cx="2490158" cy="7971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D9A441"/>
                </a:solidFill>
              </a:rPr>
              <a:t>Scientific recommendation</a:t>
            </a:r>
            <a:endParaRPr lang="en-US" sz="2000">
              <a:cs typeface="Arial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3583526" y="4351212"/>
            <a:ext cx="7216860" cy="8089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>
                <a:solidFill>
                  <a:srgbClr val="0F172A"/>
                </a:solidFill>
              </a:rPr>
              <a:t>Use risk stratification and time-sensitive follow-up so intervention happens before the final visit becomes permanent churn.</a:t>
            </a:r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280410" y="5572247"/>
            <a:ext cx="7692390" cy="879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i="1">
                <a:solidFill>
                  <a:srgbClr val="2B8C85"/>
                </a:solidFill>
              </a:rPr>
              <a:t>   </a:t>
            </a:r>
            <a:r>
              <a:rPr lang="en-US" sz="1700" b="1" i="1" u="sng">
                <a:solidFill>
                  <a:srgbClr val="2B8C85"/>
                </a:solidFill>
              </a:rPr>
              <a:t>Final takeaway</a:t>
            </a:r>
            <a:br>
              <a:rPr lang="en-US" sz="1700" b="1" i="1" u="sng">
                <a:solidFill>
                  <a:srgbClr val="2B8C85"/>
                </a:solidFill>
              </a:rPr>
            </a:br>
            <a:endParaRPr lang="en-US" sz="1100" b="1" i="1" u="sng">
              <a:solidFill>
                <a:srgbClr val="2B8C85"/>
              </a:solidFill>
            </a:endParaRPr>
          </a:p>
          <a:p>
            <a:pPr marL="0" indent="0">
              <a:buNone/>
            </a:pPr>
            <a:r>
              <a:rPr lang="en-US" sz="1700" b="1" i="1">
                <a:solidFill>
                  <a:srgbClr val="2B8C85"/>
                </a:solidFill>
              </a:rPr>
              <a:t>  Patients do not suddenly leave care </a:t>
            </a:r>
          </a:p>
          <a:p>
            <a:pPr marL="0" indent="0">
              <a:buNone/>
            </a:pPr>
            <a:r>
              <a:rPr lang="en-US" sz="1700" b="1" i="1">
                <a:solidFill>
                  <a:srgbClr val="2B8C85"/>
                </a:solidFill>
              </a:rPr>
              <a:t>They slowly disengage until returning no longer seems worth it.</a:t>
            </a:r>
            <a:endParaRPr lang="en-US" sz="1700"/>
          </a:p>
        </p:txBody>
      </p:sp>
      <p:sp>
        <p:nvSpPr>
          <p:cNvPr id="27" name="Text 25"/>
          <p:cNvSpPr/>
          <p:nvPr/>
        </p:nvSpPr>
        <p:spPr>
          <a:xfrm>
            <a:off x="11475720" y="6492240"/>
            <a:ext cx="320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/>
          </a:p>
        </p:txBody>
      </p:sp>
      <p:pic>
        <p:nvPicPr>
          <p:cNvPr id="93" name="Picture 92" descr="A stethoscope on a black background&#10;&#10;AI-generated content may be incorrect.">
            <a:extLst>
              <a:ext uri="{FF2B5EF4-FFF2-40B4-BE49-F238E27FC236}">
                <a16:creationId xmlns:a16="http://schemas.microsoft.com/office/drawing/2014/main" id="{8B3C9229-0B6F-E4AB-F0A3-9CD347BA78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2326624" y="5370253"/>
            <a:ext cx="1246743" cy="1283466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73AD50-B309-5503-F7E4-9F8918C123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Picture 32">
            <a:extLst>
              <a:ext uri="{FF2B5EF4-FFF2-40B4-BE49-F238E27FC236}">
                <a16:creationId xmlns:a16="http://schemas.microsoft.com/office/drawing/2014/main" id="{EC8A76DA-904F-EA73-4EA9-45E3C31C94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694" y="-147918"/>
            <a:ext cx="11441206" cy="7627471"/>
          </a:xfrm>
          <a:prstGeom prst="rect">
            <a:avLst/>
          </a:prstGeom>
        </p:spPr>
      </p:pic>
      <p:sp>
        <p:nvSpPr>
          <p:cNvPr id="2" name="Shape 0">
            <a:extLst>
              <a:ext uri="{FF2B5EF4-FFF2-40B4-BE49-F238E27FC236}">
                <a16:creationId xmlns:a16="http://schemas.microsoft.com/office/drawing/2014/main" id="{EC5E91F9-9EA7-EB71-4BAB-1F27F9DF010B}"/>
              </a:ext>
            </a:extLst>
          </p:cNvPr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B8C85"/>
          </a:solidFill>
          <a:ln w="12700">
            <a:solidFill>
              <a:srgbClr val="2B8C8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00DDBBDA-B6FC-23BC-C469-A329F7934664}"/>
              </a:ext>
            </a:extLst>
          </p:cNvPr>
          <p:cNvSpPr/>
          <p:nvPr/>
        </p:nvSpPr>
        <p:spPr>
          <a:xfrm>
            <a:off x="713232" y="621792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50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1F7D0EBA-1703-4896-F774-5A01E3A156B2}"/>
              </a:ext>
            </a:extLst>
          </p:cNvPr>
          <p:cNvSpPr/>
          <p:nvPr/>
        </p:nvSpPr>
        <p:spPr>
          <a:xfrm>
            <a:off x="11475720" y="6492240"/>
            <a:ext cx="320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F66257A2-721D-5418-F882-97B35F458FA3}"/>
              </a:ext>
            </a:extLst>
          </p:cNvPr>
          <p:cNvSpPr/>
          <p:nvPr/>
        </p:nvSpPr>
        <p:spPr>
          <a:xfrm>
            <a:off x="4477871" y="2595283"/>
            <a:ext cx="3455893" cy="2126128"/>
          </a:xfrm>
          <a:prstGeom prst="ellipse">
            <a:avLst/>
          </a:prstGeom>
          <a:effectLst>
            <a:glow rad="228600">
              <a:schemeClr val="accent6">
                <a:satMod val="175000"/>
                <a:alpha val="40000"/>
              </a:schemeClr>
            </a:glow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b="1">
                <a:ln w="6600">
                  <a:solidFill>
                    <a:srgbClr val="FF0000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Amasis MT Pro Black" panose="020F0502020204030204" pitchFamily="18" charset="0"/>
              </a:rPr>
              <a:t>Q &amp; A</a:t>
            </a:r>
          </a:p>
        </p:txBody>
      </p:sp>
    </p:spTree>
    <p:extLst>
      <p:ext uri="{BB962C8B-B14F-4D97-AF65-F5344CB8AC3E}">
        <p14:creationId xmlns:p14="http://schemas.microsoft.com/office/powerpoint/2010/main" val="24140407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F30A11D27FD47408DDFE43BFF3B762B" ma:contentTypeVersion="3" ma:contentTypeDescription="Create a new document." ma:contentTypeScope="" ma:versionID="bbf18b251ddc650cee8ef9ae1a71021e">
  <xsd:schema xmlns:xsd="http://www.w3.org/2001/XMLSchema" xmlns:xs="http://www.w3.org/2001/XMLSchema" xmlns:p="http://schemas.microsoft.com/office/2006/metadata/properties" xmlns:ns2="4efa7ce2-4780-4782-a504-a5a1afa26d9a" targetNamespace="http://schemas.microsoft.com/office/2006/metadata/properties" ma:root="true" ma:fieldsID="f1ad22d91e3b16d28a427ba46eb87f29" ns2:_="">
    <xsd:import namespace="4efa7ce2-4780-4782-a504-a5a1afa26d9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efa7ce2-4780-4782-a504-a5a1afa26d9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68DD22C-DDAB-415D-BE15-2165850DD376}">
  <ds:schemaRefs>
    <ds:schemaRef ds:uri="4efa7ce2-4780-4782-a504-a5a1afa26d9a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3FF44C17-92DB-4130-9141-53C0F7857A54}">
  <ds:schemaRefs>
    <ds:schemaRef ds:uri="4efa7ce2-4780-4782-a504-a5a1afa26d9a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1F3B1D0C-9E21-41D0-BD4C-586D68A9133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16</Slides>
  <Notes>16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From Visits to Vanishing: Understanding When Patients Quietly Leave Care</dc:title>
  <dc:subject>Patient churn capstone presentation</dc:subject>
  <dc:creator>Souleymane Diawara</dc:creator>
  <cp:revision>25</cp:revision>
  <dcterms:created xsi:type="dcterms:W3CDTF">2026-04-12T21:21:03Z</dcterms:created>
  <dcterms:modified xsi:type="dcterms:W3CDTF">2026-04-14T21:20:32Z</dcterms:modified>
  <cp:category>For my capstone April 2026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0x0101003F30A11D27FD47408DDFE43BFF3B762B</vt:lpwstr>
  </property>
</Properties>
</file>